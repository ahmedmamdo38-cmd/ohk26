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1" r:id="rId4"/>
  </p:sldMasterIdLst>
  <p:notesMasterIdLst>
    <p:notesMasterId r:id="rId22"/>
  </p:notesMasterIdLst>
  <p:handoutMasterIdLst>
    <p:handoutMasterId r:id="rId23"/>
  </p:handout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8" r:id="rId13"/>
    <p:sldId id="264" r:id="rId14"/>
    <p:sldId id="266" r:id="rId15"/>
    <p:sldId id="267" r:id="rId16"/>
    <p:sldId id="269" r:id="rId17"/>
    <p:sldId id="271" r:id="rId18"/>
    <p:sldId id="272" r:id="rId19"/>
    <p:sldId id="273" r:id="rId20"/>
    <p:sldId id="274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EEE3"/>
    <a:srgbClr val="BCCF00"/>
    <a:srgbClr val="AF2867"/>
    <a:srgbClr val="C9338B"/>
    <a:srgbClr val="0074D8"/>
    <a:srgbClr val="623D91"/>
    <a:srgbClr val="442D73"/>
    <a:srgbClr val="A32271"/>
    <a:srgbClr val="0098BE"/>
    <a:srgbClr val="0010D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179" autoAdjust="0"/>
    <p:restoredTop sz="96292" autoAdjust="0"/>
  </p:normalViewPr>
  <p:slideViewPr>
    <p:cSldViewPr snapToGrid="0" snapToObjects="1">
      <p:cViewPr varScale="1">
        <p:scale>
          <a:sx n="106" d="100"/>
          <a:sy n="106" d="100"/>
        </p:scale>
        <p:origin x="2364" y="11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 snapToGrid="0" snapToObjects="1" showGuides="1">
      <p:cViewPr varScale="1">
        <p:scale>
          <a:sx n="87" d="100"/>
          <a:sy n="87" d="100"/>
        </p:scale>
        <p:origin x="3840" y="9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94D4C9-6805-D540-BF0E-8D5D44FA5A14}" type="datetimeFigureOut">
              <a:rPr lang="en-US" smtClean="0"/>
              <a:t>2/15/2023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8212D4-8506-FA4A-B89D-DDD39B1D73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132699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1EE868-360A-9D4F-ADEB-D95F6F3D8AE4}" type="datetimeFigureOut">
              <a:rPr lang="en-US" smtClean="0"/>
              <a:t>2/15/2023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3639CC-2304-9949-BEF3-54E737648D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9129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n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tsikko 2"/>
          <p:cNvSpPr>
            <a:spLocks noGrp="1"/>
          </p:cNvSpPr>
          <p:nvPr>
            <p:ph type="title"/>
          </p:nvPr>
        </p:nvSpPr>
        <p:spPr>
          <a:xfrm>
            <a:off x="2358596" y="2049523"/>
            <a:ext cx="6373512" cy="281709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ts val="3600"/>
              </a:lnSpc>
              <a:defRPr sz="3200"/>
            </a:lvl1pPr>
          </a:lstStyle>
          <a:p>
            <a:r>
              <a:rPr lang="fi-FI"/>
              <a:t>Muokkaa ots. perustyyl. napsautt.</a:t>
            </a:r>
            <a:endParaRPr lang="fi-FI" dirty="0"/>
          </a:p>
        </p:txBody>
      </p:sp>
    </p:spTree>
    <p:extLst>
      <p:ext uri="{BB962C8B-B14F-4D97-AF65-F5344CB8AC3E}">
        <p14:creationId xmlns:p14="http://schemas.microsoft.com/office/powerpoint/2010/main" val="40379762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nsi - ykkösvalin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Kuva 3">
            <a:extLst>
              <a:ext uri="{FF2B5EF4-FFF2-40B4-BE49-F238E27FC236}">
                <a16:creationId xmlns:a16="http://schemas.microsoft.com/office/drawing/2014/main" id="{4AB942B8-D485-43EB-B893-D7EF8525977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7999"/>
          </a:xfrm>
          <a:prstGeom prst="rect">
            <a:avLst/>
          </a:prstGeom>
        </p:spPr>
      </p:pic>
      <p:sp>
        <p:nvSpPr>
          <p:cNvPr id="3" name="Otsikko 2"/>
          <p:cNvSpPr>
            <a:spLocks noGrp="1"/>
          </p:cNvSpPr>
          <p:nvPr>
            <p:ph type="title"/>
          </p:nvPr>
        </p:nvSpPr>
        <p:spPr>
          <a:xfrm>
            <a:off x="978683" y="2049523"/>
            <a:ext cx="6373512" cy="281709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ts val="3600"/>
              </a:lnSpc>
              <a:defRPr sz="3200"/>
            </a:lvl1pPr>
          </a:lstStyle>
          <a:p>
            <a:r>
              <a:rPr lang="fi-FI"/>
              <a:t>Muokkaa ots. perustyyl. napsautt.</a:t>
            </a:r>
            <a:endParaRPr lang="fi-FI" dirty="0"/>
          </a:p>
        </p:txBody>
      </p:sp>
      <p:sp>
        <p:nvSpPr>
          <p:cNvPr id="5" name="TextBox 10">
            <a:extLst>
              <a:ext uri="{FF2B5EF4-FFF2-40B4-BE49-F238E27FC236}">
                <a16:creationId xmlns:a16="http://schemas.microsoft.com/office/drawing/2014/main" id="{C6C2C99A-DA4C-41F0-ADDF-F850E7C02A8C}"/>
              </a:ext>
            </a:extLst>
          </p:cNvPr>
          <p:cNvSpPr txBox="1"/>
          <p:nvPr userDrawn="1"/>
        </p:nvSpPr>
        <p:spPr>
          <a:xfrm>
            <a:off x="7270101" y="6475102"/>
            <a:ext cx="158548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dirty="0">
                <a:latin typeface="TitilliumText22L Light"/>
                <a:cs typeface="TitilliumText22L Light"/>
              </a:rPr>
              <a:t>KEUDA</a:t>
            </a:r>
            <a:r>
              <a:rPr lang="en-US" sz="800" baseline="0" dirty="0"/>
              <a:t> </a:t>
            </a:r>
            <a:r>
              <a:rPr lang="fi-FI" sz="800" b="0" i="0" u="none" strike="noStrike" kern="1200" baseline="1000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•</a:t>
            </a:r>
            <a:r>
              <a:rPr lang="fi-FI" sz="800" b="0" i="0" u="none" strike="noStrike" kern="1200" baseline="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 </a:t>
            </a:r>
            <a:fld id="{682124FE-E830-FA47-9347-515BBA8263AC}" type="slidenum">
              <a:rPr lang="fi-FI" sz="800" b="0" i="0" u="none" strike="noStrike" kern="1200" baseline="0" smtClean="0">
                <a:solidFill>
                  <a:schemeClr val="tx1"/>
                </a:solidFill>
                <a:latin typeface="TitilliumText22L Light"/>
                <a:ea typeface="+mn-ea"/>
                <a:cs typeface="TitilliumText22L Light"/>
              </a:rPr>
              <a:pPr marL="0" marR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800" dirty="0">
              <a:solidFill>
                <a:schemeClr val="tx1"/>
              </a:solidFill>
              <a:latin typeface="TitilliumText22L Light"/>
              <a:cs typeface="TitilliumText22L Light"/>
            </a:endParaRPr>
          </a:p>
        </p:txBody>
      </p:sp>
    </p:spTree>
    <p:extLst>
      <p:ext uri="{BB962C8B-B14F-4D97-AF65-F5344CB8AC3E}">
        <p14:creationId xmlns:p14="http://schemas.microsoft.com/office/powerpoint/2010/main" val="26673965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sältö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1"/>
          <p:cNvSpPr>
            <a:spLocks noGrp="1"/>
          </p:cNvSpPr>
          <p:nvPr>
            <p:ph type="title" hasCustomPrompt="1"/>
          </p:nvPr>
        </p:nvSpPr>
        <p:spPr>
          <a:xfrm>
            <a:off x="2357108" y="1583952"/>
            <a:ext cx="5761282" cy="1440392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lnSpc>
                <a:spcPts val="3600"/>
              </a:lnSpc>
              <a:defRPr sz="3200" baseline="0">
                <a:latin typeface="Arial"/>
                <a:cs typeface="Arial"/>
              </a:defRPr>
            </a:lvl1pPr>
          </a:lstStyle>
          <a:p>
            <a:r>
              <a:rPr lang="fi-FI" dirty="0"/>
              <a:t>Otsikko </a:t>
            </a:r>
            <a:r>
              <a:rPr lang="fi-FI" dirty="0" err="1"/>
              <a:t>lorem</a:t>
            </a:r>
            <a:r>
              <a:rPr lang="fi-FI" dirty="0"/>
              <a:t> </a:t>
            </a:r>
            <a:r>
              <a:rPr lang="fi-FI" dirty="0" err="1"/>
              <a:t>ipsum</a:t>
            </a:r>
            <a:r>
              <a:rPr lang="fi-FI" dirty="0"/>
              <a:t> </a:t>
            </a:r>
            <a:br>
              <a:rPr lang="fi-FI" dirty="0"/>
            </a:br>
            <a:r>
              <a:rPr lang="fi-FI" dirty="0" err="1"/>
              <a:t>Arial</a:t>
            </a:r>
            <a:r>
              <a:rPr lang="fi-FI" dirty="0"/>
              <a:t> 32/36</a:t>
            </a:r>
            <a:endParaRPr lang="en-US" dirty="0"/>
          </a:p>
        </p:txBody>
      </p:sp>
      <p:sp>
        <p:nvSpPr>
          <p:cNvPr id="4" name="Sisällön paikkamerkki 2"/>
          <p:cNvSpPr>
            <a:spLocks noGrp="1"/>
          </p:cNvSpPr>
          <p:nvPr>
            <p:ph sz="quarter" idx="12"/>
          </p:nvPr>
        </p:nvSpPr>
        <p:spPr>
          <a:xfrm>
            <a:off x="2357108" y="3123454"/>
            <a:ext cx="5248647" cy="2884487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600" b="0" i="0">
                <a:latin typeface="Arial"/>
                <a:ea typeface="TitilliumText22L Light" charset="0"/>
                <a:cs typeface="Arial"/>
              </a:defRPr>
            </a:lvl1pPr>
            <a:lvl2pPr>
              <a:defRPr sz="1600" b="0" i="0">
                <a:latin typeface="Arial"/>
                <a:ea typeface="TitilliumText22L Light" charset="0"/>
                <a:cs typeface="Arial"/>
              </a:defRPr>
            </a:lvl2pPr>
            <a:lvl3pPr>
              <a:defRPr sz="1600" b="0" i="0">
                <a:latin typeface="Arial"/>
                <a:ea typeface="TitilliumText22L Light" charset="0"/>
                <a:cs typeface="Arial"/>
              </a:defRPr>
            </a:lvl3pPr>
            <a:lvl4pPr>
              <a:defRPr sz="1600" b="0" i="0">
                <a:latin typeface="Arial"/>
                <a:ea typeface="TitilliumText22L Light" charset="0"/>
                <a:cs typeface="Arial"/>
              </a:defRPr>
            </a:lvl4pPr>
            <a:lvl5pPr>
              <a:defRPr sz="1600" b="0" i="0">
                <a:latin typeface="Arial"/>
                <a:ea typeface="TitilliumText22L Light" charset="0"/>
                <a:cs typeface="Arial"/>
              </a:defRPr>
            </a:lvl5pPr>
          </a:lstStyle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  <a:endParaRPr lang="fi-FI" dirty="0"/>
          </a:p>
        </p:txBody>
      </p:sp>
    </p:spTree>
    <p:extLst>
      <p:ext uri="{BB962C8B-B14F-4D97-AF65-F5344CB8AC3E}">
        <p14:creationId xmlns:p14="http://schemas.microsoft.com/office/powerpoint/2010/main" val="14891517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sältö - ykkösvalin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Kuva 2">
            <a:extLst>
              <a:ext uri="{FF2B5EF4-FFF2-40B4-BE49-F238E27FC236}">
                <a16:creationId xmlns:a16="http://schemas.microsoft.com/office/drawing/2014/main" id="{483DE276-B9F3-49A3-A012-F8B91BA51C0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7999"/>
          </a:xfrm>
          <a:prstGeom prst="rect">
            <a:avLst/>
          </a:prstGeom>
        </p:spPr>
      </p:pic>
      <p:sp>
        <p:nvSpPr>
          <p:cNvPr id="24" name="Title 1"/>
          <p:cNvSpPr>
            <a:spLocks noGrp="1"/>
          </p:cNvSpPr>
          <p:nvPr>
            <p:ph type="title" hasCustomPrompt="1"/>
          </p:nvPr>
        </p:nvSpPr>
        <p:spPr>
          <a:xfrm>
            <a:off x="791918" y="1583952"/>
            <a:ext cx="5761282" cy="1440392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lnSpc>
                <a:spcPts val="3600"/>
              </a:lnSpc>
              <a:defRPr sz="3200" baseline="0">
                <a:latin typeface="Arial"/>
                <a:cs typeface="Arial"/>
              </a:defRPr>
            </a:lvl1pPr>
          </a:lstStyle>
          <a:p>
            <a:r>
              <a:rPr lang="fi-FI" dirty="0"/>
              <a:t>Otsikko </a:t>
            </a:r>
            <a:r>
              <a:rPr lang="fi-FI" dirty="0" err="1"/>
              <a:t>lorem</a:t>
            </a:r>
            <a:r>
              <a:rPr lang="fi-FI" dirty="0"/>
              <a:t> </a:t>
            </a:r>
            <a:r>
              <a:rPr lang="fi-FI" dirty="0" err="1"/>
              <a:t>ipsum</a:t>
            </a:r>
            <a:r>
              <a:rPr lang="fi-FI" dirty="0"/>
              <a:t> </a:t>
            </a:r>
            <a:br>
              <a:rPr lang="fi-FI" dirty="0"/>
            </a:br>
            <a:r>
              <a:rPr lang="fi-FI" dirty="0" err="1"/>
              <a:t>Arial</a:t>
            </a:r>
            <a:r>
              <a:rPr lang="fi-FI" dirty="0"/>
              <a:t> 32/36</a:t>
            </a:r>
            <a:endParaRPr lang="en-US" dirty="0"/>
          </a:p>
        </p:txBody>
      </p:sp>
      <p:sp>
        <p:nvSpPr>
          <p:cNvPr id="4" name="Sisällön paikkamerkki 2"/>
          <p:cNvSpPr>
            <a:spLocks noGrp="1"/>
          </p:cNvSpPr>
          <p:nvPr>
            <p:ph sz="quarter" idx="12"/>
          </p:nvPr>
        </p:nvSpPr>
        <p:spPr>
          <a:xfrm>
            <a:off x="791918" y="3123454"/>
            <a:ext cx="5248647" cy="2884487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600" b="0" i="0">
                <a:latin typeface="Arial"/>
                <a:ea typeface="TitilliumText22L Light" charset="0"/>
                <a:cs typeface="Arial"/>
              </a:defRPr>
            </a:lvl1pPr>
            <a:lvl2pPr>
              <a:defRPr sz="1600" b="0" i="0">
                <a:latin typeface="Arial"/>
                <a:ea typeface="TitilliumText22L Light" charset="0"/>
                <a:cs typeface="Arial"/>
              </a:defRPr>
            </a:lvl2pPr>
            <a:lvl3pPr>
              <a:defRPr sz="1600" b="0" i="0">
                <a:latin typeface="Arial"/>
                <a:ea typeface="TitilliumText22L Light" charset="0"/>
                <a:cs typeface="Arial"/>
              </a:defRPr>
            </a:lvl3pPr>
            <a:lvl4pPr>
              <a:defRPr sz="1600" b="0" i="0">
                <a:latin typeface="Arial"/>
                <a:ea typeface="TitilliumText22L Light" charset="0"/>
                <a:cs typeface="Arial"/>
              </a:defRPr>
            </a:lvl4pPr>
            <a:lvl5pPr>
              <a:defRPr sz="1600" b="0" i="0">
                <a:latin typeface="Arial"/>
                <a:ea typeface="TitilliumText22L Light" charset="0"/>
                <a:cs typeface="Arial"/>
              </a:defRPr>
            </a:lvl5pPr>
          </a:lstStyle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  <a:endParaRPr lang="fi-FI" dirty="0"/>
          </a:p>
        </p:txBody>
      </p:sp>
      <p:sp>
        <p:nvSpPr>
          <p:cNvPr id="5" name="TextBox 10">
            <a:extLst>
              <a:ext uri="{FF2B5EF4-FFF2-40B4-BE49-F238E27FC236}">
                <a16:creationId xmlns:a16="http://schemas.microsoft.com/office/drawing/2014/main" id="{9B2DEAFD-14B8-46F3-89ED-609D3D3377D8}"/>
              </a:ext>
            </a:extLst>
          </p:cNvPr>
          <p:cNvSpPr txBox="1"/>
          <p:nvPr userDrawn="1"/>
        </p:nvSpPr>
        <p:spPr>
          <a:xfrm>
            <a:off x="7270101" y="6475102"/>
            <a:ext cx="158548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dirty="0">
                <a:latin typeface="TitilliumText22L Light"/>
                <a:cs typeface="TitilliumText22L Light"/>
              </a:rPr>
              <a:t>KEUDA</a:t>
            </a:r>
            <a:r>
              <a:rPr lang="en-US" sz="800" baseline="0" dirty="0"/>
              <a:t> </a:t>
            </a:r>
            <a:r>
              <a:rPr lang="fi-FI" sz="800" b="0" i="0" u="none" strike="noStrike" kern="1200" baseline="1000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•</a:t>
            </a:r>
            <a:r>
              <a:rPr lang="fi-FI" sz="800" b="0" i="0" u="none" strike="noStrike" kern="1200" baseline="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 </a:t>
            </a:r>
            <a:fld id="{682124FE-E830-FA47-9347-515BBA8263AC}" type="slidenum">
              <a:rPr lang="fi-FI" sz="800" b="0" i="0" u="none" strike="noStrike" kern="1200" baseline="0" smtClean="0">
                <a:solidFill>
                  <a:schemeClr val="tx1"/>
                </a:solidFill>
                <a:latin typeface="TitilliumText22L Light"/>
                <a:ea typeface="+mn-ea"/>
                <a:cs typeface="TitilliumText22L Light"/>
              </a:rPr>
              <a:pPr marL="0" marR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800" dirty="0">
              <a:solidFill>
                <a:schemeClr val="tx1"/>
              </a:solidFill>
              <a:latin typeface="TitilliumText22L Light"/>
              <a:cs typeface="TitilliumText22L Light"/>
            </a:endParaRPr>
          </a:p>
        </p:txBody>
      </p:sp>
    </p:spTree>
    <p:extLst>
      <p:ext uri="{BB962C8B-B14F-4D97-AF65-F5344CB8AC3E}">
        <p14:creationId xmlns:p14="http://schemas.microsoft.com/office/powerpoint/2010/main" val="25963212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isältö - ykkösvalinta - li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Kuva 6">
            <a:extLst>
              <a:ext uri="{FF2B5EF4-FFF2-40B4-BE49-F238E27FC236}">
                <a16:creationId xmlns:a16="http://schemas.microsoft.com/office/drawing/2014/main" id="{FE89DC39-807A-4E9C-9BF9-8794BD58BCC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7999"/>
          </a:xfrm>
          <a:prstGeom prst="rect">
            <a:avLst/>
          </a:prstGeom>
        </p:spPr>
      </p:pic>
      <p:sp>
        <p:nvSpPr>
          <p:cNvPr id="24" name="Title 1"/>
          <p:cNvSpPr>
            <a:spLocks noGrp="1"/>
          </p:cNvSpPr>
          <p:nvPr>
            <p:ph type="title" hasCustomPrompt="1"/>
          </p:nvPr>
        </p:nvSpPr>
        <p:spPr>
          <a:xfrm>
            <a:off x="791918" y="1583952"/>
            <a:ext cx="5761282" cy="1440392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lnSpc>
                <a:spcPts val="3600"/>
              </a:lnSpc>
              <a:defRPr sz="3200" baseline="0">
                <a:latin typeface="Arial"/>
                <a:cs typeface="Arial"/>
              </a:defRPr>
            </a:lvl1pPr>
          </a:lstStyle>
          <a:p>
            <a:r>
              <a:rPr lang="fi-FI" dirty="0"/>
              <a:t>Otsikko </a:t>
            </a:r>
            <a:r>
              <a:rPr lang="fi-FI" dirty="0" err="1"/>
              <a:t>lorem</a:t>
            </a:r>
            <a:r>
              <a:rPr lang="fi-FI" dirty="0"/>
              <a:t> </a:t>
            </a:r>
            <a:r>
              <a:rPr lang="fi-FI" dirty="0" err="1"/>
              <a:t>ipsum</a:t>
            </a:r>
            <a:r>
              <a:rPr lang="fi-FI" dirty="0"/>
              <a:t> </a:t>
            </a:r>
            <a:br>
              <a:rPr lang="fi-FI" dirty="0"/>
            </a:br>
            <a:r>
              <a:rPr lang="fi-FI" dirty="0" err="1"/>
              <a:t>Arial</a:t>
            </a:r>
            <a:r>
              <a:rPr lang="fi-FI" dirty="0"/>
              <a:t> 32/36</a:t>
            </a:r>
            <a:endParaRPr lang="en-US" dirty="0"/>
          </a:p>
        </p:txBody>
      </p:sp>
      <p:sp>
        <p:nvSpPr>
          <p:cNvPr id="4" name="Sisällön paikkamerkki 2"/>
          <p:cNvSpPr>
            <a:spLocks noGrp="1"/>
          </p:cNvSpPr>
          <p:nvPr>
            <p:ph sz="quarter" idx="12"/>
          </p:nvPr>
        </p:nvSpPr>
        <p:spPr>
          <a:xfrm>
            <a:off x="791918" y="3123454"/>
            <a:ext cx="5248647" cy="2884487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600" b="0" i="0">
                <a:latin typeface="Arial"/>
                <a:ea typeface="TitilliumText22L Light" charset="0"/>
                <a:cs typeface="Arial"/>
              </a:defRPr>
            </a:lvl1pPr>
            <a:lvl2pPr>
              <a:defRPr sz="1600" b="0" i="0">
                <a:latin typeface="Arial"/>
                <a:ea typeface="TitilliumText22L Light" charset="0"/>
                <a:cs typeface="Arial"/>
              </a:defRPr>
            </a:lvl2pPr>
            <a:lvl3pPr>
              <a:defRPr sz="1600" b="0" i="0">
                <a:latin typeface="Arial"/>
                <a:ea typeface="TitilliumText22L Light" charset="0"/>
                <a:cs typeface="Arial"/>
              </a:defRPr>
            </a:lvl3pPr>
            <a:lvl4pPr>
              <a:defRPr sz="1600" b="0" i="0">
                <a:latin typeface="Arial"/>
                <a:ea typeface="TitilliumText22L Light" charset="0"/>
                <a:cs typeface="Arial"/>
              </a:defRPr>
            </a:lvl4pPr>
            <a:lvl5pPr>
              <a:defRPr sz="1600" b="0" i="0">
                <a:latin typeface="Arial"/>
                <a:ea typeface="TitilliumText22L Light" charset="0"/>
                <a:cs typeface="Arial"/>
              </a:defRPr>
            </a:lvl5pPr>
          </a:lstStyle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  <a:endParaRPr lang="fi-FI" dirty="0"/>
          </a:p>
        </p:txBody>
      </p:sp>
      <p:sp>
        <p:nvSpPr>
          <p:cNvPr id="5" name="TextBox 10">
            <a:extLst>
              <a:ext uri="{FF2B5EF4-FFF2-40B4-BE49-F238E27FC236}">
                <a16:creationId xmlns:a16="http://schemas.microsoft.com/office/drawing/2014/main" id="{AE6C7CC8-3097-4489-8F57-1AAB4DBE7496}"/>
              </a:ext>
            </a:extLst>
          </p:cNvPr>
          <p:cNvSpPr txBox="1"/>
          <p:nvPr userDrawn="1"/>
        </p:nvSpPr>
        <p:spPr>
          <a:xfrm>
            <a:off x="7270101" y="6475102"/>
            <a:ext cx="158548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dirty="0">
                <a:latin typeface="TitilliumText22L Light"/>
                <a:cs typeface="TitilliumText22L Light"/>
              </a:rPr>
              <a:t>KEUDA</a:t>
            </a:r>
            <a:r>
              <a:rPr lang="en-US" sz="800" baseline="0" dirty="0"/>
              <a:t> </a:t>
            </a:r>
            <a:r>
              <a:rPr lang="fi-FI" sz="800" b="0" i="0" u="none" strike="noStrike" kern="1200" baseline="1000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•</a:t>
            </a:r>
            <a:r>
              <a:rPr lang="fi-FI" sz="800" b="0" i="0" u="none" strike="noStrike" kern="1200" baseline="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 </a:t>
            </a:r>
            <a:fld id="{682124FE-E830-FA47-9347-515BBA8263AC}" type="slidenum">
              <a:rPr lang="fi-FI" sz="800" b="0" i="0" u="none" strike="noStrike" kern="1200" baseline="0" smtClean="0">
                <a:solidFill>
                  <a:schemeClr val="tx1"/>
                </a:solidFill>
                <a:latin typeface="TitilliumText22L Light"/>
                <a:ea typeface="+mn-ea"/>
                <a:cs typeface="TitilliumText22L Light"/>
              </a:rPr>
              <a:pPr marL="0" marR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800" dirty="0">
              <a:solidFill>
                <a:schemeClr val="tx1"/>
              </a:solidFill>
              <a:latin typeface="TitilliumText22L Light"/>
              <a:cs typeface="TitilliumText22L Light"/>
            </a:endParaRPr>
          </a:p>
        </p:txBody>
      </p:sp>
    </p:spTree>
    <p:extLst>
      <p:ext uri="{BB962C8B-B14F-4D97-AF65-F5344CB8AC3E}">
        <p14:creationId xmlns:p14="http://schemas.microsoft.com/office/powerpoint/2010/main" val="28322747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so kuv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Kuvan paikkamerkki 2"/>
          <p:cNvSpPr>
            <a:spLocks noGrp="1" noChangeAspect="1"/>
          </p:cNvSpPr>
          <p:nvPr>
            <p:ph type="pic" sz="quarter" idx="11" hasCustomPrompt="1"/>
          </p:nvPr>
        </p:nvSpPr>
        <p:spPr>
          <a:xfrm>
            <a:off x="247135" y="2004607"/>
            <a:ext cx="6912000" cy="4214962"/>
          </a:xfrm>
          <a:prstGeom prst="rect">
            <a:avLst/>
          </a:prstGeom>
          <a:noFill/>
        </p:spPr>
        <p:txBody>
          <a:bodyPr anchor="t"/>
          <a:lstStyle>
            <a:lvl1pPr marL="0" indent="0" algn="ctr">
              <a:buNone/>
              <a:defRPr sz="1800" baseline="0">
                <a:latin typeface="Arial"/>
                <a:ea typeface="TitilliumText22L" charset="0"/>
                <a:cs typeface="Arial"/>
              </a:defRPr>
            </a:lvl1pPr>
          </a:lstStyle>
          <a:p>
            <a:r>
              <a:rPr lang="fi-FI" dirty="0"/>
              <a:t>Paikka kuvalle</a:t>
            </a:r>
          </a:p>
        </p:txBody>
      </p:sp>
      <p:sp>
        <p:nvSpPr>
          <p:cNvPr id="11" name="Sisällön paikkamerkki 2"/>
          <p:cNvSpPr>
            <a:spLocks noGrp="1"/>
          </p:cNvSpPr>
          <p:nvPr>
            <p:ph sz="quarter" idx="12"/>
          </p:nvPr>
        </p:nvSpPr>
        <p:spPr>
          <a:xfrm>
            <a:off x="7298724" y="4061254"/>
            <a:ext cx="1441622" cy="2158314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 algn="l">
              <a:buNone/>
              <a:defRPr sz="1600" b="0" i="0">
                <a:latin typeface="Arial"/>
                <a:ea typeface="TitilliumText22L Light" charset="0"/>
                <a:cs typeface="Arial"/>
              </a:defRPr>
            </a:lvl1pPr>
            <a:lvl2pPr>
              <a:defRPr sz="1600" b="0" i="0">
                <a:latin typeface="TitilliumText22L Light" charset="0"/>
                <a:ea typeface="TitilliumText22L Light" charset="0"/>
                <a:cs typeface="TitilliumText22L Light" charset="0"/>
              </a:defRPr>
            </a:lvl2pPr>
            <a:lvl3pPr>
              <a:defRPr sz="1600" b="0" i="0">
                <a:latin typeface="TitilliumText22L Light" charset="0"/>
                <a:ea typeface="TitilliumText22L Light" charset="0"/>
                <a:cs typeface="TitilliumText22L Light" charset="0"/>
              </a:defRPr>
            </a:lvl3pPr>
            <a:lvl4pPr>
              <a:defRPr sz="1600" b="0" i="0">
                <a:latin typeface="TitilliumText22L Light" charset="0"/>
                <a:ea typeface="TitilliumText22L Light" charset="0"/>
                <a:cs typeface="TitilliumText22L Light" charset="0"/>
              </a:defRPr>
            </a:lvl4pPr>
            <a:lvl5pPr>
              <a:defRPr sz="1600" b="0" i="0">
                <a:latin typeface="TitilliumText22L Light" charset="0"/>
                <a:ea typeface="TitilliumText22L Light" charset="0"/>
                <a:cs typeface="TitilliumText22L Light" charset="0"/>
              </a:defRPr>
            </a:lvl5pPr>
          </a:lstStyle>
          <a:p>
            <a:pPr lvl="0"/>
            <a:r>
              <a:rPr lang="fi-FI"/>
              <a:t>Muokkaa tekstin perustyylejä napsauttamalla</a:t>
            </a:r>
          </a:p>
        </p:txBody>
      </p:sp>
      <p:sp>
        <p:nvSpPr>
          <p:cNvPr id="13" name="Title 1"/>
          <p:cNvSpPr>
            <a:spLocks noGrp="1"/>
          </p:cNvSpPr>
          <p:nvPr>
            <p:ph type="title" hasCustomPrompt="1"/>
          </p:nvPr>
        </p:nvSpPr>
        <p:spPr>
          <a:xfrm>
            <a:off x="247135" y="463607"/>
            <a:ext cx="5761282" cy="1440392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lnSpc>
                <a:spcPts val="3600"/>
              </a:lnSpc>
              <a:defRPr sz="3200" baseline="0">
                <a:latin typeface="Arial"/>
                <a:cs typeface="Arial"/>
              </a:defRPr>
            </a:lvl1pPr>
          </a:lstStyle>
          <a:p>
            <a:r>
              <a:rPr lang="fi-FI" dirty="0"/>
              <a:t>Kuvan otsikko </a:t>
            </a:r>
            <a:r>
              <a:rPr lang="fi-FI" dirty="0" err="1"/>
              <a:t>lorem</a:t>
            </a:r>
            <a:r>
              <a:rPr lang="fi-FI" dirty="0"/>
              <a:t> </a:t>
            </a:r>
            <a:r>
              <a:rPr lang="fi-FI" dirty="0" err="1"/>
              <a:t>ipsum</a:t>
            </a:r>
            <a:r>
              <a:rPr lang="fi-FI" dirty="0"/>
              <a:t> </a:t>
            </a:r>
            <a:r>
              <a:rPr lang="fi-FI" dirty="0" err="1"/>
              <a:t>Arial</a:t>
            </a:r>
            <a:r>
              <a:rPr lang="fi-FI" dirty="0"/>
              <a:t> 32/36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80334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uva ja sisält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1"/>
          <p:cNvSpPr>
            <a:spLocks noGrp="1"/>
          </p:cNvSpPr>
          <p:nvPr>
            <p:ph type="title" hasCustomPrompt="1"/>
          </p:nvPr>
        </p:nvSpPr>
        <p:spPr>
          <a:xfrm>
            <a:off x="4283676" y="947206"/>
            <a:ext cx="4473147" cy="1597771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lnSpc>
                <a:spcPts val="3600"/>
              </a:lnSpc>
              <a:defRPr sz="3200" baseline="0">
                <a:latin typeface="Arial"/>
                <a:cs typeface="Arial"/>
              </a:defRPr>
            </a:lvl1pPr>
          </a:lstStyle>
          <a:p>
            <a:r>
              <a:rPr lang="fi-FI" dirty="0"/>
              <a:t>Otsikko </a:t>
            </a:r>
            <a:r>
              <a:rPr lang="fi-FI" dirty="0" err="1"/>
              <a:t>lorem</a:t>
            </a:r>
            <a:r>
              <a:rPr lang="fi-FI" dirty="0"/>
              <a:t> </a:t>
            </a:r>
            <a:r>
              <a:rPr lang="fi-FI" dirty="0" err="1"/>
              <a:t>ipsum</a:t>
            </a:r>
            <a:r>
              <a:rPr lang="fi-FI" dirty="0"/>
              <a:t> </a:t>
            </a:r>
            <a:r>
              <a:rPr lang="fi-FI" dirty="0" err="1"/>
              <a:t>Arial</a:t>
            </a:r>
            <a:r>
              <a:rPr lang="fi-FI" dirty="0"/>
              <a:t> 32/36</a:t>
            </a:r>
            <a:endParaRPr lang="en-US" dirty="0"/>
          </a:p>
        </p:txBody>
      </p:sp>
      <p:sp>
        <p:nvSpPr>
          <p:cNvPr id="9" name="Sisällön paikkamerkki 2"/>
          <p:cNvSpPr>
            <a:spLocks noGrp="1"/>
          </p:cNvSpPr>
          <p:nvPr>
            <p:ph sz="quarter" idx="12"/>
          </p:nvPr>
        </p:nvSpPr>
        <p:spPr>
          <a:xfrm>
            <a:off x="4283675" y="2709949"/>
            <a:ext cx="4473147" cy="355904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600" b="0" i="0">
                <a:latin typeface="Arial"/>
                <a:ea typeface="TitilliumText22L Light" charset="0"/>
                <a:cs typeface="Arial"/>
              </a:defRPr>
            </a:lvl1pPr>
            <a:lvl2pPr>
              <a:defRPr sz="1600" b="0" i="0">
                <a:latin typeface="Arial"/>
                <a:ea typeface="TitilliumText22L Light" charset="0"/>
                <a:cs typeface="Arial"/>
              </a:defRPr>
            </a:lvl2pPr>
            <a:lvl3pPr>
              <a:defRPr sz="1600" b="0" i="0">
                <a:latin typeface="Arial"/>
                <a:ea typeface="TitilliumText22L Light" charset="0"/>
                <a:cs typeface="Arial"/>
              </a:defRPr>
            </a:lvl3pPr>
            <a:lvl4pPr>
              <a:defRPr sz="1600" b="0" i="0">
                <a:latin typeface="Arial"/>
                <a:ea typeface="TitilliumText22L Light" charset="0"/>
                <a:cs typeface="Arial"/>
              </a:defRPr>
            </a:lvl4pPr>
            <a:lvl5pPr>
              <a:defRPr sz="1600" b="0" i="0">
                <a:latin typeface="Arial"/>
                <a:ea typeface="TitilliumText22L Light" charset="0"/>
                <a:cs typeface="Arial"/>
              </a:defRPr>
            </a:lvl5pPr>
          </a:lstStyle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  <a:endParaRPr lang="fi-FI" dirty="0"/>
          </a:p>
        </p:txBody>
      </p:sp>
      <p:sp>
        <p:nvSpPr>
          <p:cNvPr id="10" name="Kuvan paikkamerkki 2"/>
          <p:cNvSpPr>
            <a:spLocks noGrp="1"/>
          </p:cNvSpPr>
          <p:nvPr>
            <p:ph type="pic" sz="quarter" idx="11" hasCustomPrompt="1"/>
          </p:nvPr>
        </p:nvSpPr>
        <p:spPr>
          <a:xfrm>
            <a:off x="247135" y="943236"/>
            <a:ext cx="3781167" cy="5325760"/>
          </a:xfrm>
          <a:prstGeom prst="rect">
            <a:avLst/>
          </a:prstGeom>
          <a:solidFill>
            <a:schemeClr val="bg1"/>
          </a:solidFill>
        </p:spPr>
        <p:txBody>
          <a:bodyPr anchor="t"/>
          <a:lstStyle>
            <a:lvl1pPr marL="0" indent="0" algn="ctr">
              <a:buNone/>
              <a:defRPr sz="1800" baseline="0">
                <a:latin typeface="Arial"/>
                <a:ea typeface="TitilliumText22L" charset="0"/>
                <a:cs typeface="Arial"/>
              </a:defRPr>
            </a:lvl1pPr>
          </a:lstStyle>
          <a:p>
            <a:r>
              <a:rPr lang="fi-FI" dirty="0"/>
              <a:t>Paikka kuvalle</a:t>
            </a:r>
          </a:p>
        </p:txBody>
      </p:sp>
    </p:spTree>
    <p:extLst>
      <p:ext uri="{BB962C8B-B14F-4D97-AF65-F5344CB8AC3E}">
        <p14:creationId xmlns:p14="http://schemas.microsoft.com/office/powerpoint/2010/main" val="7771776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uva + sisältö - ykkösvalin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Kuva 2">
            <a:extLst>
              <a:ext uri="{FF2B5EF4-FFF2-40B4-BE49-F238E27FC236}">
                <a16:creationId xmlns:a16="http://schemas.microsoft.com/office/drawing/2014/main" id="{483DE276-B9F3-49A3-A012-F8B91BA51C0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7999"/>
          </a:xfrm>
          <a:prstGeom prst="rect">
            <a:avLst/>
          </a:prstGeom>
        </p:spPr>
      </p:pic>
      <p:sp>
        <p:nvSpPr>
          <p:cNvPr id="5" name="Sisällön paikkamerkki 2">
            <a:extLst>
              <a:ext uri="{FF2B5EF4-FFF2-40B4-BE49-F238E27FC236}">
                <a16:creationId xmlns:a16="http://schemas.microsoft.com/office/drawing/2014/main" id="{DC2E2FDC-F3B3-41CF-AB6A-48494A762CAE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275437" y="951548"/>
            <a:ext cx="4473147" cy="35705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600" b="0" i="0">
                <a:latin typeface="Arial"/>
                <a:ea typeface="TitilliumText22L Light" charset="0"/>
                <a:cs typeface="Arial"/>
              </a:defRPr>
            </a:lvl1pPr>
            <a:lvl2pPr>
              <a:defRPr sz="1600" b="0" i="0">
                <a:latin typeface="Arial"/>
                <a:ea typeface="TitilliumText22L Light" charset="0"/>
                <a:cs typeface="Arial"/>
              </a:defRPr>
            </a:lvl2pPr>
            <a:lvl3pPr>
              <a:defRPr sz="1600" b="0" i="0">
                <a:latin typeface="Arial"/>
                <a:ea typeface="TitilliumText22L Light" charset="0"/>
                <a:cs typeface="Arial"/>
              </a:defRPr>
            </a:lvl3pPr>
            <a:lvl4pPr>
              <a:defRPr sz="1600" b="0" i="0">
                <a:latin typeface="Arial"/>
                <a:ea typeface="TitilliumText22L Light" charset="0"/>
                <a:cs typeface="Arial"/>
              </a:defRPr>
            </a:lvl4pPr>
            <a:lvl5pPr>
              <a:defRPr sz="1600" b="0" i="0">
                <a:latin typeface="Arial"/>
                <a:ea typeface="TitilliumText22L Light" charset="0"/>
                <a:cs typeface="Arial"/>
              </a:defRPr>
            </a:lvl5pPr>
          </a:lstStyle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  <a:endParaRPr lang="fi-FI" dirty="0"/>
          </a:p>
        </p:txBody>
      </p:sp>
      <p:sp>
        <p:nvSpPr>
          <p:cNvPr id="6" name="Kuvan paikkamerkki 2">
            <a:extLst>
              <a:ext uri="{FF2B5EF4-FFF2-40B4-BE49-F238E27FC236}">
                <a16:creationId xmlns:a16="http://schemas.microsoft.com/office/drawing/2014/main" id="{E8D99E9B-A051-45B4-883C-FC52D255B8C1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247135" y="943236"/>
            <a:ext cx="3781167" cy="5325760"/>
          </a:xfrm>
          <a:prstGeom prst="rect">
            <a:avLst/>
          </a:prstGeom>
          <a:solidFill>
            <a:schemeClr val="bg1"/>
          </a:solidFill>
        </p:spPr>
        <p:txBody>
          <a:bodyPr anchor="t"/>
          <a:lstStyle>
            <a:lvl1pPr marL="0" indent="0" algn="ctr">
              <a:buNone/>
              <a:defRPr sz="1800" baseline="0">
                <a:latin typeface="Arial"/>
                <a:ea typeface="TitilliumText22L" charset="0"/>
                <a:cs typeface="Arial"/>
              </a:defRPr>
            </a:lvl1pPr>
          </a:lstStyle>
          <a:p>
            <a:r>
              <a:rPr lang="fi-FI" dirty="0"/>
              <a:t>Paikka kuvalle</a:t>
            </a:r>
          </a:p>
        </p:txBody>
      </p:sp>
      <p:sp>
        <p:nvSpPr>
          <p:cNvPr id="7" name="TextBox 10">
            <a:extLst>
              <a:ext uri="{FF2B5EF4-FFF2-40B4-BE49-F238E27FC236}">
                <a16:creationId xmlns:a16="http://schemas.microsoft.com/office/drawing/2014/main" id="{81555D7A-CF63-4EF4-9AB9-418A106F04E9}"/>
              </a:ext>
            </a:extLst>
          </p:cNvPr>
          <p:cNvSpPr txBox="1"/>
          <p:nvPr userDrawn="1"/>
        </p:nvSpPr>
        <p:spPr>
          <a:xfrm>
            <a:off x="7270101" y="6475102"/>
            <a:ext cx="158548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dirty="0">
                <a:latin typeface="TitilliumText22L Light"/>
                <a:cs typeface="TitilliumText22L Light"/>
              </a:rPr>
              <a:t>KEUDA</a:t>
            </a:r>
            <a:r>
              <a:rPr lang="en-US" sz="800" baseline="0" dirty="0"/>
              <a:t> </a:t>
            </a:r>
            <a:r>
              <a:rPr lang="fi-FI" sz="800" b="0" i="0" u="none" strike="noStrike" kern="1200" baseline="1000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•</a:t>
            </a:r>
            <a:r>
              <a:rPr lang="fi-FI" sz="800" b="0" i="0" u="none" strike="noStrike" kern="1200" baseline="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 </a:t>
            </a:r>
            <a:fld id="{682124FE-E830-FA47-9347-515BBA8263AC}" type="slidenum">
              <a:rPr lang="fi-FI" sz="800" b="0" i="0" u="none" strike="noStrike" kern="1200" baseline="0" smtClean="0">
                <a:solidFill>
                  <a:schemeClr val="tx1"/>
                </a:solidFill>
                <a:latin typeface="TitilliumText22L Light"/>
                <a:ea typeface="+mn-ea"/>
                <a:cs typeface="TitilliumText22L Light"/>
              </a:rPr>
              <a:pPr marL="0" marR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800" dirty="0">
              <a:solidFill>
                <a:schemeClr val="tx1"/>
              </a:solidFill>
              <a:latin typeface="TitilliumText22L Light"/>
              <a:cs typeface="TitilliumText22L Light"/>
            </a:endParaRPr>
          </a:p>
        </p:txBody>
      </p:sp>
    </p:spTree>
    <p:extLst>
      <p:ext uri="{BB962C8B-B14F-4D97-AF65-F5344CB8AC3E}">
        <p14:creationId xmlns:p14="http://schemas.microsoft.com/office/powerpoint/2010/main" val="40548788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Yhteystiedot - ykkösvalin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Kuva 2">
            <a:extLst>
              <a:ext uri="{FF2B5EF4-FFF2-40B4-BE49-F238E27FC236}">
                <a16:creationId xmlns:a16="http://schemas.microsoft.com/office/drawing/2014/main" id="{483DE276-B9F3-49A3-A012-F8B91BA51C0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7999"/>
          </a:xfrm>
          <a:prstGeom prst="rect">
            <a:avLst/>
          </a:prstGeom>
        </p:spPr>
      </p:pic>
      <p:sp>
        <p:nvSpPr>
          <p:cNvPr id="8" name="Tekstiruutu 7">
            <a:extLst>
              <a:ext uri="{FF2B5EF4-FFF2-40B4-BE49-F238E27FC236}">
                <a16:creationId xmlns:a16="http://schemas.microsoft.com/office/drawing/2014/main" id="{BF8A0455-F601-4BA2-A012-9207EB26FC2C}"/>
              </a:ext>
            </a:extLst>
          </p:cNvPr>
          <p:cNvSpPr txBox="1"/>
          <p:nvPr userDrawn="1"/>
        </p:nvSpPr>
        <p:spPr>
          <a:xfrm>
            <a:off x="640080" y="1151452"/>
            <a:ext cx="5777346" cy="45550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i-FI" sz="2400" b="1" i="0" u="none" strike="noStrike" kern="1200" baseline="300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Kysyttävää hakemisesta?</a:t>
            </a:r>
            <a:endParaRPr lang="fi-FI" sz="2400" b="0" i="0" u="none" strike="noStrike" kern="1200" baseline="30000" dirty="0">
              <a:solidFill>
                <a:schemeClr val="tx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rtl="0"/>
            <a:r>
              <a:rPr lang="fi-FI" sz="1600" b="1" i="0" u="none" strike="noStrike" kern="1200" baseline="300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Ota yhteyttä Hakupalveluihin</a:t>
            </a:r>
            <a:r>
              <a:rPr lang="fi-FI" sz="1600" b="0" i="0" u="none" strike="noStrike" kern="1200" baseline="300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</a:p>
          <a:p>
            <a:pPr rtl="0"/>
            <a:r>
              <a:rPr lang="fi-FI" sz="1600" b="0" i="0" u="none" strike="noStrike" kern="1200" baseline="300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040 174 5579, </a:t>
            </a:r>
            <a:br>
              <a:rPr lang="fi-FI" sz="1600" b="0" i="0" u="none" strike="noStrike" kern="1200" baseline="300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br>
            <a:r>
              <a:rPr lang="fi-FI" sz="1600" b="0" i="0" u="none" strike="noStrike" kern="1200" baseline="300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hakupalvelut@keuda.fi</a:t>
            </a:r>
          </a:p>
          <a:p>
            <a:pPr rtl="0"/>
            <a:r>
              <a:rPr lang="fi-FI" sz="1600" b="0" i="0" u="none" strike="noStrike" kern="1200" baseline="300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Palvelemme myös chatissä keuda.fi.</a:t>
            </a:r>
          </a:p>
          <a:p>
            <a:pPr rtl="0"/>
            <a:endParaRPr lang="fi-FI" sz="1800" b="1" i="0" u="none" strike="noStrike" kern="1200" baseline="30000" dirty="0">
              <a:solidFill>
                <a:schemeClr val="tx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rtl="0"/>
            <a:r>
              <a:rPr lang="fi-FI" sz="2400" b="1" i="0" u="none" strike="noStrike" kern="1200" baseline="300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Kiinnostaako oppisopimuskoulutus?</a:t>
            </a:r>
            <a:endParaRPr lang="fi-FI" sz="2400" b="0" i="0" u="none" strike="noStrike" kern="1200" baseline="30000" dirty="0">
              <a:solidFill>
                <a:schemeClr val="tx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rtl="0"/>
            <a:r>
              <a:rPr lang="fi-FI" sz="1600" b="1" i="0" u="none" strike="noStrike" kern="1200" baseline="300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Ota yhteyttä Työelämäpalveluihin</a:t>
            </a:r>
            <a:r>
              <a:rPr lang="fi-FI" sz="1600" b="0" i="0" u="none" strike="noStrike" kern="1200" baseline="300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</a:p>
          <a:p>
            <a:pPr rtl="0"/>
            <a:r>
              <a:rPr lang="fi-FI" sz="1600" b="0" i="0" u="none" strike="noStrike" kern="1200" baseline="300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040 174 5627, </a:t>
            </a:r>
            <a:br>
              <a:rPr lang="fi-FI" sz="1600" b="0" i="0" u="none" strike="noStrike" kern="1200" baseline="300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br>
            <a:r>
              <a:rPr lang="fi-FI" sz="1600" b="0" i="0" u="none" strike="noStrike" kern="1200" baseline="300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tyoelamapalvelut@keuda.fi</a:t>
            </a:r>
          </a:p>
          <a:p>
            <a:pPr rtl="0"/>
            <a:endParaRPr lang="fi-FI" sz="1800" b="0" i="0" u="none" strike="noStrike" kern="1200" baseline="30000" dirty="0">
              <a:solidFill>
                <a:schemeClr val="tx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rtl="0"/>
            <a:r>
              <a:rPr lang="fi-FI" sz="2400" b="1" i="0" u="none" strike="noStrike" kern="1200" baseline="30000" dirty="0" err="1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Keudan</a:t>
            </a:r>
            <a:r>
              <a:rPr lang="fi-FI" sz="2400" b="1" i="0" u="none" strike="noStrike" kern="1200" baseline="300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koulutusten yleisinfot</a:t>
            </a:r>
            <a:endParaRPr lang="fi-FI" sz="2400" b="0" i="0" u="none" strike="noStrike" kern="1200" baseline="30000" dirty="0">
              <a:solidFill>
                <a:schemeClr val="tx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rtl="0"/>
            <a:r>
              <a:rPr lang="fi-FI" sz="1800" b="0" i="0" u="none" strike="noStrike" kern="1200" baseline="300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Parittomien viikkojen keskiviikkona klo 14 – 16 </a:t>
            </a:r>
            <a:br>
              <a:rPr lang="fi-FI" sz="1800" b="0" i="0" u="none" strike="noStrike" kern="1200" baseline="300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br>
            <a:r>
              <a:rPr lang="fi-FI" sz="1800" b="0" i="0" u="none" strike="noStrike" kern="1200" baseline="300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osoitteessa Keskikatu 3A, Kerava.</a:t>
            </a:r>
            <a:endParaRPr lang="fi-FI" sz="1800" b="1" i="0" u="none" strike="noStrike" kern="1200" baseline="30000" dirty="0">
              <a:solidFill>
                <a:schemeClr val="tx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rtl="0"/>
            <a:endParaRPr lang="fi-FI" sz="1800" b="1" i="0" u="none" strike="noStrike" kern="1200" baseline="30000" dirty="0">
              <a:solidFill>
                <a:schemeClr val="tx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rtl="0"/>
            <a:r>
              <a:rPr lang="fi-FI" sz="2400" b="1" i="0" u="none" strike="noStrike" kern="1200" baseline="30000" dirty="0" err="1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Keudaan</a:t>
            </a:r>
            <a:r>
              <a:rPr lang="fi-FI" sz="2400" b="1" i="0" u="none" strike="noStrike" kern="1200" baseline="300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tutustumaan? </a:t>
            </a:r>
          </a:p>
          <a:p>
            <a:pPr rtl="0"/>
            <a:r>
              <a:rPr lang="fi-FI" sz="1800" b="0" i="0" u="none" strike="noStrike" kern="1200" baseline="300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Katso päivittyvä lista avoimista ovista, infoista ja </a:t>
            </a:r>
            <a:br>
              <a:rPr lang="fi-FI" sz="1800" b="0" i="0" u="none" strike="noStrike" kern="1200" baseline="300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br>
            <a:r>
              <a:rPr lang="fi-FI" sz="1800" b="0" i="0" u="none" strike="noStrike" kern="1200" baseline="300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muista tapahtumista osoitteessa </a:t>
            </a:r>
            <a:r>
              <a:rPr lang="fi-FI" sz="1800" b="1" i="0" u="none" strike="noStrike" kern="1200" baseline="300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keuda.fi/infot</a:t>
            </a:r>
          </a:p>
          <a:p>
            <a:pPr rtl="0"/>
            <a:endParaRPr lang="fi-FI" sz="1800" b="1" i="0" u="none" strike="noStrike" kern="1200" baseline="30000" dirty="0">
              <a:solidFill>
                <a:schemeClr val="tx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rtl="0"/>
            <a:endParaRPr lang="fi-FI" sz="1800" b="1" i="0" u="none" strike="noStrike" kern="1200" baseline="30000" dirty="0">
              <a:solidFill>
                <a:schemeClr val="tx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rtl="0"/>
            <a:r>
              <a:rPr lang="fi-FI" sz="1800" b="0" i="0" u="none" strike="noStrike" kern="1200" baseline="300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#ykkösvalinta  </a:t>
            </a:r>
          </a:p>
          <a:p>
            <a:pPr rtl="0"/>
            <a:r>
              <a:rPr lang="fi-FI" sz="1800" b="0" i="0" u="none" strike="noStrike" kern="1200" baseline="300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www.keuda.fi</a:t>
            </a:r>
          </a:p>
          <a:p>
            <a:endParaRPr lang="fi-FI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10">
            <a:extLst>
              <a:ext uri="{FF2B5EF4-FFF2-40B4-BE49-F238E27FC236}">
                <a16:creationId xmlns:a16="http://schemas.microsoft.com/office/drawing/2014/main" id="{886727D7-5BF9-4FEE-AD3B-148F54785AC3}"/>
              </a:ext>
            </a:extLst>
          </p:cNvPr>
          <p:cNvSpPr txBox="1"/>
          <p:nvPr userDrawn="1"/>
        </p:nvSpPr>
        <p:spPr>
          <a:xfrm>
            <a:off x="7270101" y="6475102"/>
            <a:ext cx="158548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dirty="0">
                <a:latin typeface="TitilliumText22L Light"/>
                <a:cs typeface="TitilliumText22L Light"/>
              </a:rPr>
              <a:t>KEUDA</a:t>
            </a:r>
            <a:r>
              <a:rPr lang="en-US" sz="800" baseline="0" dirty="0"/>
              <a:t> </a:t>
            </a:r>
            <a:r>
              <a:rPr lang="fi-FI" sz="800" b="0" i="0" u="none" strike="noStrike" kern="1200" baseline="1000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•</a:t>
            </a:r>
            <a:r>
              <a:rPr lang="fi-FI" sz="800" b="0" i="0" u="none" strike="noStrike" kern="1200" baseline="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 </a:t>
            </a:r>
            <a:fld id="{682124FE-E830-FA47-9347-515BBA8263AC}" type="slidenum">
              <a:rPr lang="fi-FI" sz="800" b="0" i="0" u="none" strike="noStrike" kern="1200" baseline="0" smtClean="0">
                <a:solidFill>
                  <a:schemeClr val="tx1"/>
                </a:solidFill>
                <a:latin typeface="TitilliumText22L Light"/>
                <a:ea typeface="+mn-ea"/>
                <a:cs typeface="TitilliumText22L Light"/>
              </a:rPr>
              <a:pPr marL="0" marR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800" dirty="0">
              <a:solidFill>
                <a:schemeClr val="tx1"/>
              </a:solidFill>
              <a:latin typeface="TitilliumText22L Light"/>
              <a:cs typeface="TitilliumText22L Light"/>
            </a:endParaRPr>
          </a:p>
        </p:txBody>
      </p:sp>
    </p:spTree>
    <p:extLst>
      <p:ext uri="{BB962C8B-B14F-4D97-AF65-F5344CB8AC3E}">
        <p14:creationId xmlns:p14="http://schemas.microsoft.com/office/powerpoint/2010/main" val="38904485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rtta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Kuva 2">
            <a:extLst>
              <a:ext uri="{FF2B5EF4-FFF2-40B4-BE49-F238E27FC236}">
                <a16:creationId xmlns:a16="http://schemas.microsoft.com/office/drawing/2014/main" id="{8AB97C95-E635-4200-B163-54DAC764B73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7999"/>
          </a:xfrm>
          <a:prstGeom prst="rect">
            <a:avLst/>
          </a:prstGeom>
        </p:spPr>
      </p:pic>
      <p:pic>
        <p:nvPicPr>
          <p:cNvPr id="4" name="Kuva 3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0663" y="996490"/>
            <a:ext cx="4072478" cy="5609394"/>
          </a:xfrm>
          <a:prstGeom prst="rect">
            <a:avLst/>
          </a:prstGeom>
        </p:spPr>
      </p:pic>
      <p:sp>
        <p:nvSpPr>
          <p:cNvPr id="6" name="Tekstiruutu 5">
            <a:extLst>
              <a:ext uri="{FF2B5EF4-FFF2-40B4-BE49-F238E27FC236}">
                <a16:creationId xmlns:a16="http://schemas.microsoft.com/office/drawing/2014/main" id="{000F45F4-BC06-4C0F-93B5-E159DC2EDFDB}"/>
              </a:ext>
            </a:extLst>
          </p:cNvPr>
          <p:cNvSpPr txBox="1"/>
          <p:nvPr userDrawn="1"/>
        </p:nvSpPr>
        <p:spPr>
          <a:xfrm>
            <a:off x="590205" y="1485231"/>
            <a:ext cx="5777346" cy="32213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i-FI" sz="3200" b="1" i="0" u="none" strike="noStrike" kern="1200" baseline="300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KEUDA</a:t>
            </a:r>
            <a:endParaRPr lang="fi-FI" sz="3200" b="0" i="0" u="none" strike="noStrike" kern="1200" baseline="30000" dirty="0">
              <a:solidFill>
                <a:schemeClr val="tx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rtl="0"/>
            <a:r>
              <a:rPr lang="fi-FI" sz="1800" b="0" i="0" u="none" strike="noStrike" kern="1200" baseline="300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Toteutamme opiskelijoille ja työelämälle yksilöllisiä, </a:t>
            </a:r>
            <a:br>
              <a:rPr lang="fi-FI" sz="1800" b="0" i="0" u="none" strike="noStrike" kern="1200" baseline="300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br>
            <a:r>
              <a:rPr lang="fi-FI" sz="1800" b="0" i="0" u="none" strike="noStrike" kern="1200" baseline="300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vetovoimaisia  koulutus- ja kehittämispalveluja.</a:t>
            </a:r>
          </a:p>
          <a:p>
            <a:pPr rtl="0"/>
            <a:endParaRPr lang="fi-FI" sz="1800" b="1" i="0" u="none" strike="noStrike" kern="1200" baseline="30000" dirty="0">
              <a:solidFill>
                <a:schemeClr val="tx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rtl="0"/>
            <a:r>
              <a:rPr lang="fi-FI" sz="2400" b="1" i="0" u="none" strike="noStrike" kern="1200" baseline="300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Opetus- ja koulutuspalvelut</a:t>
            </a:r>
          </a:p>
          <a:p>
            <a:pPr rtl="0"/>
            <a:r>
              <a:rPr lang="fi-FI" sz="2400" b="1" i="0" u="none" strike="noStrike" kern="1200" baseline="300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Työelämäpalvelut</a:t>
            </a:r>
            <a:endParaRPr lang="fi-FI" sz="2400" b="0" i="0" u="none" strike="noStrike" kern="1200" baseline="30000" dirty="0">
              <a:solidFill>
                <a:schemeClr val="tx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rtl="0"/>
            <a:endParaRPr lang="fi-FI" sz="1800" b="0" i="0" u="none" strike="noStrike" kern="1200" baseline="30000" dirty="0">
              <a:solidFill>
                <a:schemeClr val="tx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i-FI" sz="1800" b="1" i="0" u="none" strike="noStrike" kern="1200" baseline="300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Koulutustarjontamme kattaa kaikki koulutusalat:</a:t>
            </a:r>
          </a:p>
          <a:p>
            <a:pPr rtl="0"/>
            <a:r>
              <a:rPr lang="fi-FI" sz="1800" b="0" i="0" u="none" strike="noStrike" kern="1200" baseline="300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Auto- ja logistiikkapalvelut</a:t>
            </a:r>
          </a:p>
          <a:p>
            <a:pPr rtl="0"/>
            <a:r>
              <a:rPr lang="fi-FI" sz="1800" b="0" i="0" u="none" strike="noStrike" kern="1200" baseline="300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Hyvinvointipalvelut</a:t>
            </a:r>
          </a:p>
          <a:p>
            <a:pPr rtl="0"/>
            <a:r>
              <a:rPr lang="fi-FI" sz="1800" b="0" i="0" u="none" strike="noStrike" kern="1200" baseline="300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Liike-elämän palvelut</a:t>
            </a:r>
          </a:p>
          <a:p>
            <a:pPr rtl="0"/>
            <a:r>
              <a:rPr lang="fi-FI" sz="1800" b="0" i="0" u="none" strike="noStrike" kern="1200" baseline="300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Luonnonvara- ja ympäristöpalvelut</a:t>
            </a:r>
          </a:p>
          <a:p>
            <a:pPr rtl="0"/>
            <a:r>
              <a:rPr lang="fi-FI" sz="1800" b="0" i="0" u="none" strike="noStrike" kern="1200" baseline="300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Palvelualat</a:t>
            </a:r>
          </a:p>
          <a:p>
            <a:pPr rtl="0"/>
            <a:r>
              <a:rPr lang="fi-FI" sz="1800" b="0" i="0" u="none" strike="noStrike" kern="1200" baseline="300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Teknologia- ja rakentamispalvelut</a:t>
            </a:r>
          </a:p>
          <a:p>
            <a:endParaRPr lang="fi-FI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10">
            <a:extLst>
              <a:ext uri="{FF2B5EF4-FFF2-40B4-BE49-F238E27FC236}">
                <a16:creationId xmlns:a16="http://schemas.microsoft.com/office/drawing/2014/main" id="{A7953638-5DFE-4A4A-91AA-B825B3CD5B5A}"/>
              </a:ext>
            </a:extLst>
          </p:cNvPr>
          <p:cNvSpPr txBox="1"/>
          <p:nvPr userDrawn="1"/>
        </p:nvSpPr>
        <p:spPr>
          <a:xfrm>
            <a:off x="7270101" y="6475102"/>
            <a:ext cx="158548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dirty="0">
                <a:latin typeface="TitilliumText22L Light"/>
                <a:cs typeface="TitilliumText22L Light"/>
              </a:rPr>
              <a:t>KEUDA</a:t>
            </a:r>
            <a:r>
              <a:rPr lang="en-US" sz="800" baseline="0" dirty="0"/>
              <a:t> </a:t>
            </a:r>
            <a:r>
              <a:rPr lang="fi-FI" sz="800" b="0" i="0" u="none" strike="noStrike" kern="1200" baseline="1000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•</a:t>
            </a:r>
            <a:r>
              <a:rPr lang="fi-FI" sz="800" b="0" i="0" u="none" strike="noStrike" kern="1200" baseline="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 </a:t>
            </a:r>
            <a:fld id="{682124FE-E830-FA47-9347-515BBA8263AC}" type="slidenum">
              <a:rPr lang="fi-FI" sz="800" b="0" i="0" u="none" strike="noStrike" kern="1200" baseline="0" smtClean="0">
                <a:solidFill>
                  <a:schemeClr val="tx1"/>
                </a:solidFill>
                <a:latin typeface="TitilliumText22L Light"/>
                <a:ea typeface="+mn-ea"/>
                <a:cs typeface="TitilliumText22L Light"/>
              </a:rPr>
              <a:pPr marL="0" marR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800" dirty="0">
              <a:solidFill>
                <a:schemeClr val="tx1"/>
              </a:solidFill>
              <a:latin typeface="TitilliumText22L Light"/>
              <a:cs typeface="TitilliumText22L Light"/>
            </a:endParaRPr>
          </a:p>
        </p:txBody>
      </p:sp>
    </p:spTree>
    <p:extLst>
      <p:ext uri="{BB962C8B-B14F-4D97-AF65-F5344CB8AC3E}">
        <p14:creationId xmlns:p14="http://schemas.microsoft.com/office/powerpoint/2010/main" val="15614371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ukautettu asette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513230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Kuva 5">
            <a:extLst>
              <a:ext uri="{FF2B5EF4-FFF2-40B4-BE49-F238E27FC236}">
                <a16:creationId xmlns:a16="http://schemas.microsoft.com/office/drawing/2014/main" id="{9E241046-3378-4DA4-96C2-F167FE837D50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1"/>
            <a:ext cx="9144000" cy="685799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270101" y="6475102"/>
            <a:ext cx="158548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dirty="0">
                <a:latin typeface="TitilliumText22L Light"/>
                <a:cs typeface="TitilliumText22L Light"/>
              </a:rPr>
              <a:t>KEUDA</a:t>
            </a:r>
            <a:r>
              <a:rPr lang="en-US" sz="800" baseline="0" dirty="0"/>
              <a:t> </a:t>
            </a:r>
            <a:r>
              <a:rPr lang="fi-FI" sz="800" b="0" i="0" u="none" strike="noStrike" kern="1200" baseline="1000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•</a:t>
            </a:r>
            <a:r>
              <a:rPr lang="fi-FI" sz="800" b="0" i="0" u="none" strike="noStrike" kern="1200" baseline="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 </a:t>
            </a:r>
            <a:fld id="{682124FE-E830-FA47-9347-515BBA8263AC}" type="slidenum">
              <a:rPr lang="fi-FI" sz="800" b="0" i="0" u="none" strike="noStrike" kern="1200" baseline="0" smtClean="0">
                <a:solidFill>
                  <a:schemeClr val="tx1"/>
                </a:solidFill>
                <a:latin typeface="TitilliumText22L Light"/>
                <a:ea typeface="+mn-ea"/>
                <a:cs typeface="TitilliumText22L Light"/>
              </a:rPr>
              <a:pPr marL="0" marR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800" dirty="0">
              <a:solidFill>
                <a:schemeClr val="tx1"/>
              </a:solidFill>
              <a:latin typeface="TitilliumText22L Light"/>
              <a:cs typeface="TitilliumText22L Light"/>
            </a:endParaRPr>
          </a:p>
        </p:txBody>
      </p:sp>
    </p:spTree>
    <p:extLst>
      <p:ext uri="{BB962C8B-B14F-4D97-AF65-F5344CB8AC3E}">
        <p14:creationId xmlns:p14="http://schemas.microsoft.com/office/powerpoint/2010/main" val="41954801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723" r:id="rId2"/>
    <p:sldLayoutId id="2147483720" r:id="rId3"/>
    <p:sldLayoutId id="2147483707" r:id="rId4"/>
    <p:sldLayoutId id="2147483726" r:id="rId5"/>
    <p:sldLayoutId id="2147483721" r:id="rId6"/>
    <p:sldLayoutId id="2147483718" r:id="rId7"/>
    <p:sldLayoutId id="2147483724" r:id="rId8"/>
    <p:sldLayoutId id="2147483725" r:id="rId9"/>
    <p:sldLayoutId id="2147483722" r:id="rId10"/>
    <p:sldLayoutId id="2147483727" r:id="rId11"/>
  </p:sldLayoutIdLst>
  <p:txStyles>
    <p:titleStyle>
      <a:lvl1pPr algn="l" defTabSz="457200" rtl="0" eaLnBrk="1" latinLnBrk="0" hangingPunct="1">
        <a:lnSpc>
          <a:spcPts val="3200"/>
        </a:lnSpc>
        <a:spcBef>
          <a:spcPct val="0"/>
        </a:spcBef>
        <a:buNone/>
        <a:defRPr sz="2800" b="0" i="0" kern="1200">
          <a:solidFill>
            <a:schemeClr val="tx1"/>
          </a:solidFill>
          <a:latin typeface="Arial"/>
          <a:ea typeface="TitilliumText22L Light" charset="0"/>
          <a:cs typeface="Arial"/>
        </a:defRPr>
      </a:lvl1pPr>
    </p:titleStyle>
    <p:bodyStyle>
      <a:lvl1pPr marL="342900" indent="-342900" algn="l" defTabSz="457200" rtl="0" eaLnBrk="1" latinLnBrk="0" hangingPunct="1">
        <a:lnSpc>
          <a:spcPts val="2000"/>
        </a:lnSpc>
        <a:spcBef>
          <a:spcPts val="600"/>
        </a:spcBef>
        <a:buFont typeface="Arial"/>
        <a:buChar char="•"/>
        <a:defRPr sz="1600" b="0" i="0" kern="1200">
          <a:solidFill>
            <a:schemeClr val="tx1"/>
          </a:solidFill>
          <a:latin typeface="Arial"/>
          <a:ea typeface="TitilliumText22L Light" charset="0"/>
          <a:cs typeface="Arial"/>
        </a:defRPr>
      </a:lvl1pPr>
      <a:lvl2pPr marL="742950" indent="-285750" algn="l" defTabSz="457200" rtl="0" eaLnBrk="1" latinLnBrk="0" hangingPunct="1">
        <a:lnSpc>
          <a:spcPts val="2000"/>
        </a:lnSpc>
        <a:spcBef>
          <a:spcPts val="600"/>
        </a:spcBef>
        <a:buFont typeface="Arial"/>
        <a:buChar char="–"/>
        <a:defRPr sz="1600" b="0" i="0" kern="1200">
          <a:solidFill>
            <a:schemeClr val="tx1"/>
          </a:solidFill>
          <a:latin typeface="Arial"/>
          <a:ea typeface="TitilliumText22L Light" charset="0"/>
          <a:cs typeface="Arial"/>
        </a:defRPr>
      </a:lvl2pPr>
      <a:lvl3pPr marL="1143000" indent="-228600" algn="l" defTabSz="457200" rtl="0" eaLnBrk="1" latinLnBrk="0" hangingPunct="1">
        <a:lnSpc>
          <a:spcPts val="2000"/>
        </a:lnSpc>
        <a:spcBef>
          <a:spcPts val="600"/>
        </a:spcBef>
        <a:buFont typeface="Arial"/>
        <a:buChar char="•"/>
        <a:defRPr sz="1600" b="0" i="0" kern="1200">
          <a:solidFill>
            <a:schemeClr val="tx1"/>
          </a:solidFill>
          <a:latin typeface="Arial"/>
          <a:ea typeface="TitilliumText22L Light" charset="0"/>
          <a:cs typeface="Arial"/>
        </a:defRPr>
      </a:lvl3pPr>
      <a:lvl4pPr marL="1600200" indent="-228600" algn="l" defTabSz="457200" rtl="0" eaLnBrk="1" latinLnBrk="0" hangingPunct="1">
        <a:lnSpc>
          <a:spcPts val="2000"/>
        </a:lnSpc>
        <a:spcBef>
          <a:spcPts val="600"/>
        </a:spcBef>
        <a:buFont typeface="Arial"/>
        <a:buChar char="–"/>
        <a:defRPr sz="1600" b="0" i="0" kern="1200">
          <a:solidFill>
            <a:schemeClr val="tx1"/>
          </a:solidFill>
          <a:latin typeface="Arial"/>
          <a:ea typeface="TitilliumText22L Light" charset="0"/>
          <a:cs typeface="Arial"/>
        </a:defRPr>
      </a:lvl4pPr>
      <a:lvl5pPr marL="2057400" indent="-228600" algn="l" defTabSz="457200" rtl="0" eaLnBrk="1" latinLnBrk="0" hangingPunct="1">
        <a:lnSpc>
          <a:spcPts val="2000"/>
        </a:lnSpc>
        <a:spcBef>
          <a:spcPts val="600"/>
        </a:spcBef>
        <a:buFont typeface="Arial"/>
        <a:buChar char="»"/>
        <a:defRPr sz="1600" b="0" i="0" kern="1200">
          <a:solidFill>
            <a:schemeClr val="tx1"/>
          </a:solidFill>
          <a:latin typeface="Arial"/>
          <a:ea typeface="TitilliumText22L Light" charset="0"/>
          <a:cs typeface="Arial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w3schools.com/cs/cs_exceptions.php" TargetMode="Externa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515E736C-2297-7045-8CA5-2971B118E1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/>
              <a:t>T1-tason ohjelmointi C#-kielellä</a:t>
            </a:r>
          </a:p>
        </p:txBody>
      </p:sp>
    </p:spTree>
    <p:extLst>
      <p:ext uri="{BB962C8B-B14F-4D97-AF65-F5344CB8AC3E}">
        <p14:creationId xmlns:p14="http://schemas.microsoft.com/office/powerpoint/2010/main" val="361594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tsikko 2">
            <a:extLst>
              <a:ext uri="{FF2B5EF4-FFF2-40B4-BE49-F238E27FC236}">
                <a16:creationId xmlns:a16="http://schemas.microsoft.com/office/drawing/2014/main" id="{043A2972-42D5-4659-9537-A49B275411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1918" y="0"/>
            <a:ext cx="5761282" cy="711200"/>
          </a:xfrm>
        </p:spPr>
        <p:txBody>
          <a:bodyPr/>
          <a:lstStyle/>
          <a:p>
            <a:r>
              <a:rPr lang="fi-FI" dirty="0"/>
              <a:t>17. Tehtävä - Muistio</a:t>
            </a:r>
          </a:p>
        </p:txBody>
      </p:sp>
      <p:sp>
        <p:nvSpPr>
          <p:cNvPr id="4" name="Sisällön paikkamerkki 3">
            <a:extLst>
              <a:ext uri="{FF2B5EF4-FFF2-40B4-BE49-F238E27FC236}">
                <a16:creationId xmlns:a16="http://schemas.microsoft.com/office/drawing/2014/main" id="{160BFA3E-5B58-4CF1-BA6B-90256032D6A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791918" y="880534"/>
            <a:ext cx="8352082" cy="5977466"/>
          </a:xfrm>
        </p:spPr>
        <p:txBody>
          <a:bodyPr/>
          <a:lstStyle/>
          <a:p>
            <a:r>
              <a:rPr lang="fi-FI" dirty="0"/>
              <a:t>Tähän tehtävään tarvitsemme</a:t>
            </a:r>
          </a:p>
          <a:p>
            <a:pPr lvl="1"/>
            <a:r>
              <a:rPr lang="fi-FI" dirty="0" err="1"/>
              <a:t>Menustrip</a:t>
            </a:r>
            <a:r>
              <a:rPr lang="fi-FI" dirty="0"/>
              <a:t> (</a:t>
            </a:r>
            <a:r>
              <a:rPr lang="fi-FI" dirty="0" err="1"/>
              <a:t>Menus</a:t>
            </a:r>
            <a:r>
              <a:rPr lang="fi-FI" dirty="0"/>
              <a:t> &amp; </a:t>
            </a:r>
            <a:r>
              <a:rPr lang="fi-FI" dirty="0" err="1"/>
              <a:t>Toolbars</a:t>
            </a:r>
            <a:r>
              <a:rPr lang="fi-FI" dirty="0"/>
              <a:t>) sekä </a:t>
            </a:r>
            <a:r>
              <a:rPr lang="fi-FI" dirty="0" err="1"/>
              <a:t>RichTextBox</a:t>
            </a:r>
            <a:r>
              <a:rPr lang="fi-FI" dirty="0"/>
              <a:t>, johon teksti kirjoitetaan</a:t>
            </a:r>
          </a:p>
          <a:p>
            <a:pPr lvl="1"/>
            <a:r>
              <a:rPr lang="fi-FI" dirty="0" err="1"/>
              <a:t>Properties</a:t>
            </a:r>
            <a:r>
              <a:rPr lang="fi-FI" dirty="0"/>
              <a:t>-valikosta </a:t>
            </a:r>
            <a:r>
              <a:rPr lang="fi-FI" dirty="0" err="1"/>
              <a:t>ShortCutKeys</a:t>
            </a:r>
            <a:endParaRPr lang="fi-FI" dirty="0"/>
          </a:p>
          <a:p>
            <a:pPr lvl="1"/>
            <a:r>
              <a:rPr lang="fi-FI" dirty="0" err="1"/>
              <a:t>System.IO</a:t>
            </a:r>
            <a:r>
              <a:rPr lang="fi-FI" dirty="0"/>
              <a:t>-kirjastoa, josta käytämme</a:t>
            </a:r>
          </a:p>
          <a:p>
            <a:pPr lvl="2"/>
            <a:r>
              <a:rPr lang="fi-FI" dirty="0" err="1"/>
              <a:t>OpenFileDialog</a:t>
            </a:r>
            <a:r>
              <a:rPr lang="fi-FI" dirty="0"/>
              <a:t>, </a:t>
            </a:r>
            <a:r>
              <a:rPr lang="fi-FI" dirty="0" err="1"/>
              <a:t>SaveFileDialog</a:t>
            </a:r>
            <a:r>
              <a:rPr lang="fi-FI" dirty="0"/>
              <a:t> ja </a:t>
            </a:r>
            <a:r>
              <a:rPr lang="fi-FI" dirty="0" err="1"/>
              <a:t>FontDialog</a:t>
            </a:r>
            <a:r>
              <a:rPr lang="fi-FI" dirty="0"/>
              <a:t>  ja monia muita metodeja</a:t>
            </a:r>
          </a:p>
          <a:p>
            <a:pPr lvl="1"/>
            <a:r>
              <a:rPr lang="fi-FI" dirty="0"/>
              <a:t>Ja estämme virheitä tulemasta </a:t>
            </a:r>
            <a:r>
              <a:rPr lang="fi-FI" dirty="0" err="1"/>
              <a:t>try</a:t>
            </a:r>
            <a:r>
              <a:rPr lang="fi-FI" dirty="0"/>
              <a:t> – </a:t>
            </a:r>
            <a:r>
              <a:rPr lang="fi-FI" dirty="0" err="1"/>
              <a:t>catch</a:t>
            </a:r>
            <a:r>
              <a:rPr lang="fi-FI" dirty="0"/>
              <a:t> (- </a:t>
            </a:r>
            <a:r>
              <a:rPr lang="fi-FI" dirty="0" err="1"/>
              <a:t>finally</a:t>
            </a:r>
            <a:r>
              <a:rPr lang="fi-FI" dirty="0"/>
              <a:t>) parilla. Tästä lisää: </a:t>
            </a:r>
            <a:r>
              <a:rPr lang="fi-FI" dirty="0">
                <a:hlinkClick r:id="rId2"/>
              </a:rPr>
              <a:t>https://www.w3schools.com/cs/cs_exceptions.php</a:t>
            </a:r>
            <a:endParaRPr lang="fi-FI" dirty="0"/>
          </a:p>
          <a:p>
            <a:r>
              <a:rPr lang="fi-FI" dirty="0"/>
              <a:t>Valitse aluksi Windows </a:t>
            </a:r>
            <a:r>
              <a:rPr lang="fi-FI" dirty="0" err="1"/>
              <a:t>Forms</a:t>
            </a:r>
            <a:r>
              <a:rPr lang="fi-FI" dirty="0"/>
              <a:t> </a:t>
            </a:r>
            <a:r>
              <a:rPr lang="fi-FI" dirty="0" err="1"/>
              <a:t>App</a:t>
            </a:r>
            <a:r>
              <a:rPr lang="fi-FI" dirty="0"/>
              <a:t> (.Net Framework) ja anna nimeksi Muistio</a:t>
            </a:r>
          </a:p>
        </p:txBody>
      </p:sp>
    </p:spTree>
    <p:extLst>
      <p:ext uri="{BB962C8B-B14F-4D97-AF65-F5344CB8AC3E}">
        <p14:creationId xmlns:p14="http://schemas.microsoft.com/office/powerpoint/2010/main" val="32833806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AAC9902F-37BC-5B41-BBE5-32D212F668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1918" y="0"/>
            <a:ext cx="5761282" cy="1440392"/>
          </a:xfrm>
        </p:spPr>
        <p:txBody>
          <a:bodyPr/>
          <a:lstStyle/>
          <a:p>
            <a:r>
              <a:rPr lang="fi-FI" dirty="0"/>
              <a:t>Layout</a:t>
            </a:r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5E0478B9-5BB2-A04E-B70A-FB2DF5E8F264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791918" y="1440392"/>
            <a:ext cx="8352082" cy="5417608"/>
          </a:xfrm>
        </p:spPr>
        <p:txBody>
          <a:bodyPr/>
          <a:lstStyle/>
          <a:p>
            <a:r>
              <a:rPr lang="fi-FI" dirty="0"/>
              <a:t>Valitse lomake, muuta taustaväriksi valkoinen ja anna </a:t>
            </a:r>
            <a:br>
              <a:rPr lang="fi-FI" dirty="0"/>
            </a:br>
            <a:r>
              <a:rPr lang="fi-FI" dirty="0" err="1"/>
              <a:t>Text:ksi</a:t>
            </a:r>
            <a:r>
              <a:rPr lang="fi-FI" dirty="0"/>
              <a:t> ja nimeksi Muistio</a:t>
            </a:r>
          </a:p>
          <a:p>
            <a:r>
              <a:rPr lang="fi-FI" dirty="0"/>
              <a:t>Valitse työkalupaneelista </a:t>
            </a:r>
            <a:r>
              <a:rPr lang="fi-FI" dirty="0" err="1"/>
              <a:t>MenuStrip</a:t>
            </a:r>
            <a:r>
              <a:rPr lang="fi-FI" dirty="0"/>
              <a:t> ja vedä se lomakkeelle</a:t>
            </a:r>
          </a:p>
          <a:p>
            <a:r>
              <a:rPr lang="fi-FI" dirty="0"/>
              <a:t>Kirjoita ensiksi Tiedosto ja sen alle Uusi – Avaa – Tallenna – </a:t>
            </a:r>
            <a:br>
              <a:rPr lang="fi-FI" dirty="0"/>
            </a:br>
            <a:r>
              <a:rPr lang="fi-FI" dirty="0"/>
              <a:t>Tallenna nimellä – Tulostuksen esikatselu – Tulosta – Poistu:</a:t>
            </a:r>
          </a:p>
          <a:p>
            <a:r>
              <a:rPr lang="fi-FI" dirty="0"/>
              <a:t>Valitse sen jälkeen Uusi, mene </a:t>
            </a:r>
            <a:r>
              <a:rPr lang="fi-FI" dirty="0" err="1"/>
              <a:t>properties</a:t>
            </a:r>
            <a:r>
              <a:rPr lang="fi-FI" dirty="0"/>
              <a:t>-valikkoon, etsi </a:t>
            </a:r>
            <a:br>
              <a:rPr lang="fi-FI" dirty="0"/>
            </a:br>
            <a:r>
              <a:rPr lang="fi-FI" dirty="0"/>
              <a:t>sieltä </a:t>
            </a:r>
            <a:r>
              <a:rPr lang="fi-FI" dirty="0" err="1"/>
              <a:t>ShortcutKeys</a:t>
            </a:r>
            <a:r>
              <a:rPr lang="fi-FI" dirty="0"/>
              <a:t> ja valitse sinne </a:t>
            </a:r>
            <a:r>
              <a:rPr lang="fi-FI" dirty="0" err="1"/>
              <a:t>Ctrl+N</a:t>
            </a:r>
            <a:r>
              <a:rPr lang="fi-FI" dirty="0"/>
              <a:t>, tee sanoin Avaa </a:t>
            </a:r>
            <a:br>
              <a:rPr lang="fi-FI" dirty="0"/>
            </a:br>
            <a:r>
              <a:rPr lang="fi-FI" dirty="0"/>
              <a:t>(</a:t>
            </a:r>
            <a:r>
              <a:rPr lang="fi-FI" dirty="0" err="1"/>
              <a:t>Ctrl+O</a:t>
            </a:r>
            <a:r>
              <a:rPr lang="fi-FI" dirty="0"/>
              <a:t>), Tallenna (</a:t>
            </a:r>
            <a:r>
              <a:rPr lang="fi-FI" dirty="0" err="1"/>
              <a:t>Ctrl+S</a:t>
            </a:r>
            <a:r>
              <a:rPr lang="fi-FI" dirty="0"/>
              <a:t>), Tulosta (</a:t>
            </a:r>
            <a:r>
              <a:rPr lang="fi-FI" dirty="0" err="1"/>
              <a:t>Ctrl+P</a:t>
            </a:r>
            <a:r>
              <a:rPr lang="fi-FI" dirty="0"/>
              <a:t>) ja poistu (Alt+F4)</a:t>
            </a:r>
          </a:p>
          <a:p>
            <a:r>
              <a:rPr lang="fi-FI" dirty="0"/>
              <a:t>Kirjoita loppuun – (</a:t>
            </a:r>
            <a:r>
              <a:rPr lang="fi-FI" dirty="0" err="1"/>
              <a:t>enter</a:t>
            </a:r>
            <a:r>
              <a:rPr lang="fi-FI" dirty="0"/>
              <a:t>), jolloin se tekee jakoviivan, tee niitä </a:t>
            </a:r>
            <a:br>
              <a:rPr lang="fi-FI" dirty="0"/>
            </a:br>
            <a:r>
              <a:rPr lang="fi-FI" dirty="0"/>
              <a:t>kaksi ja jaa (siis siirrä viivaa) ennen ja jälkeen tulostuksien, </a:t>
            </a:r>
            <a:br>
              <a:rPr lang="fi-FI" dirty="0"/>
            </a:br>
            <a:r>
              <a:rPr lang="fi-FI" dirty="0"/>
              <a:t>niin saat selkeytystä valikkoosi (kts. Yltä)</a:t>
            </a:r>
          </a:p>
          <a:p>
            <a:r>
              <a:rPr lang="fi-FI" dirty="0"/>
              <a:t>Tee nyt muut ”päävalikot”. Pikanäppäimet saat laittamalla</a:t>
            </a:r>
            <a:br>
              <a:rPr lang="fi-FI" dirty="0"/>
            </a:br>
            <a:r>
              <a:rPr lang="fi-FI" dirty="0"/>
              <a:t>&amp;-merkin sen kirjaimen eteen, jonka haluat olevan sen kirjaimen,</a:t>
            </a:r>
            <a:br>
              <a:rPr lang="fi-FI" dirty="0"/>
            </a:br>
            <a:r>
              <a:rPr lang="fi-FI" dirty="0"/>
              <a:t>jolla ko. valikon saa </a:t>
            </a:r>
            <a:r>
              <a:rPr lang="fi-FI" dirty="0" err="1"/>
              <a:t>ALT+ko</a:t>
            </a:r>
            <a:r>
              <a:rPr lang="fi-FI" dirty="0"/>
              <a:t>. kirjaimella auki. Esim. &amp;Tiedosto avautuisi</a:t>
            </a:r>
            <a:br>
              <a:rPr lang="fi-FI" dirty="0"/>
            </a:br>
            <a:r>
              <a:rPr lang="fi-FI" dirty="0"/>
              <a:t>ALT+T-yhdistelmällä. Muut valikot ovat: Muokkaa, Muotoile ja</a:t>
            </a:r>
            <a:br>
              <a:rPr lang="fi-FI" dirty="0"/>
            </a:br>
            <a:r>
              <a:rPr lang="fi-FI" dirty="0"/>
              <a:t>Tietoa (Huomaa, että koska tässä on 2 M-alkuista, et voi </a:t>
            </a:r>
            <a:br>
              <a:rPr lang="fi-FI" dirty="0"/>
            </a:br>
            <a:r>
              <a:rPr lang="fi-FI" dirty="0"/>
              <a:t>molempia laittaa &amp;M </a:t>
            </a:r>
            <a:r>
              <a:rPr lang="fi-FI" dirty="0">
                <a:sym typeface="Wingdings" pitchFamily="2" charset="2"/>
              </a:rPr>
              <a:t> joudut valitsemaan toiseen jonkun</a:t>
            </a:r>
            <a:br>
              <a:rPr lang="fi-FI" dirty="0">
                <a:sym typeface="Wingdings" pitchFamily="2" charset="2"/>
              </a:rPr>
            </a:br>
            <a:r>
              <a:rPr lang="fi-FI" dirty="0">
                <a:sym typeface="Wingdings" pitchFamily="2" charset="2"/>
              </a:rPr>
              <a:t>toisen kirjaimen)</a:t>
            </a:r>
            <a:endParaRPr lang="fi-FI" dirty="0"/>
          </a:p>
        </p:txBody>
      </p:sp>
      <p:pic>
        <p:nvPicPr>
          <p:cNvPr id="5" name="Kuva 4">
            <a:extLst>
              <a:ext uri="{FF2B5EF4-FFF2-40B4-BE49-F238E27FC236}">
                <a16:creationId xmlns:a16="http://schemas.microsoft.com/office/drawing/2014/main" id="{C184DE7E-6E18-F54A-AA89-3FFD88FE14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3700" y="3106882"/>
            <a:ext cx="2349500" cy="1752600"/>
          </a:xfrm>
          <a:prstGeom prst="rect">
            <a:avLst/>
          </a:prstGeom>
        </p:spPr>
      </p:pic>
      <p:pic>
        <p:nvPicPr>
          <p:cNvPr id="6" name="Kuva 5">
            <a:extLst>
              <a:ext uri="{FF2B5EF4-FFF2-40B4-BE49-F238E27FC236}">
                <a16:creationId xmlns:a16="http://schemas.microsoft.com/office/drawing/2014/main" id="{02380363-B5C0-6843-8306-3E87EC91A0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4500" y="720196"/>
            <a:ext cx="2298700" cy="2349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18051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C8A36957-D225-5F4B-A308-65A248226A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1918" y="25316"/>
            <a:ext cx="5761282" cy="1440392"/>
          </a:xfrm>
        </p:spPr>
        <p:txBody>
          <a:bodyPr/>
          <a:lstStyle/>
          <a:p>
            <a:r>
              <a:rPr lang="fi-FI" dirty="0"/>
              <a:t>Layout - jatkuu</a:t>
            </a:r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BC4EDFDD-19D2-2D40-90C3-DC8BA56D36B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791918" y="1465708"/>
            <a:ext cx="8352082" cy="5366976"/>
          </a:xfrm>
        </p:spPr>
        <p:txBody>
          <a:bodyPr/>
          <a:lstStyle/>
          <a:p>
            <a:r>
              <a:rPr lang="fi-FI" dirty="0"/>
              <a:t>Valmiit valikot alla:</a:t>
            </a:r>
          </a:p>
          <a:p>
            <a:endParaRPr lang="fi-FI" dirty="0"/>
          </a:p>
          <a:p>
            <a:endParaRPr lang="fi-FI" dirty="0"/>
          </a:p>
          <a:p>
            <a:endParaRPr lang="fi-FI" dirty="0"/>
          </a:p>
          <a:p>
            <a:endParaRPr lang="fi-FI" dirty="0"/>
          </a:p>
          <a:p>
            <a:endParaRPr lang="fi-FI" dirty="0"/>
          </a:p>
          <a:p>
            <a:endParaRPr lang="fi-FI" dirty="0"/>
          </a:p>
          <a:p>
            <a:endParaRPr lang="fi-FI" dirty="0"/>
          </a:p>
          <a:p>
            <a:endParaRPr lang="fi-FI" dirty="0"/>
          </a:p>
          <a:p>
            <a:endParaRPr lang="fi-FI" dirty="0"/>
          </a:p>
          <a:p>
            <a:r>
              <a:rPr lang="fi-FI" dirty="0"/>
              <a:t>HUOM! Alleviivatut kirjaimet ovat siis merkitty &amp;-merkillä, jolloin ne</a:t>
            </a:r>
            <a:br>
              <a:rPr lang="fi-FI" dirty="0"/>
            </a:br>
            <a:r>
              <a:rPr lang="fi-FI" dirty="0"/>
              <a:t>saa myös näppäimistön </a:t>
            </a:r>
            <a:r>
              <a:rPr lang="fi-FI" dirty="0" err="1"/>
              <a:t>ALT+ko</a:t>
            </a:r>
            <a:r>
              <a:rPr lang="fi-FI" dirty="0"/>
              <a:t>. kirjain yhdistelmällä auki</a:t>
            </a:r>
          </a:p>
          <a:p>
            <a:r>
              <a:rPr lang="fi-FI" dirty="0"/>
              <a:t>Lisää </a:t>
            </a:r>
            <a:r>
              <a:rPr lang="fi-FI" dirty="0" err="1"/>
              <a:t>RichTextBox</a:t>
            </a:r>
            <a:r>
              <a:rPr lang="fi-FI" dirty="0"/>
              <a:t> Menusi alle ja määrittele se täyttymään koko ala </a:t>
            </a:r>
            <a:br>
              <a:rPr lang="fi-FI" dirty="0"/>
            </a:br>
            <a:r>
              <a:rPr lang="fi-FI" dirty="0" err="1"/>
              <a:t>Properties</a:t>
            </a:r>
            <a:r>
              <a:rPr lang="fi-FI" dirty="0"/>
              <a:t> – </a:t>
            </a:r>
            <a:r>
              <a:rPr lang="fi-FI" dirty="0" err="1"/>
              <a:t>Dock</a:t>
            </a:r>
            <a:r>
              <a:rPr lang="fi-FI" dirty="0"/>
              <a:t> – paina keskeltä: </a:t>
            </a:r>
            <a:r>
              <a:rPr lang="fi-FI" dirty="0" err="1"/>
              <a:t>Fill</a:t>
            </a:r>
            <a:endParaRPr lang="fi-FI" dirty="0"/>
          </a:p>
        </p:txBody>
      </p:sp>
      <p:pic>
        <p:nvPicPr>
          <p:cNvPr id="5" name="Kuva 4">
            <a:extLst>
              <a:ext uri="{FF2B5EF4-FFF2-40B4-BE49-F238E27FC236}">
                <a16:creationId xmlns:a16="http://schemas.microsoft.com/office/drawing/2014/main" id="{5522045A-3A88-E542-8541-B600282865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5318" y="1800513"/>
            <a:ext cx="2743200" cy="2590800"/>
          </a:xfrm>
          <a:prstGeom prst="rect">
            <a:avLst/>
          </a:prstGeom>
        </p:spPr>
      </p:pic>
      <p:pic>
        <p:nvPicPr>
          <p:cNvPr id="6" name="Kuva 5">
            <a:extLst>
              <a:ext uri="{FF2B5EF4-FFF2-40B4-BE49-F238E27FC236}">
                <a16:creationId xmlns:a16="http://schemas.microsoft.com/office/drawing/2014/main" id="{7A940E99-1BFD-7E43-88A7-5604C7C4BD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2223" y="1800513"/>
            <a:ext cx="2768600" cy="1371600"/>
          </a:xfrm>
          <a:prstGeom prst="rect">
            <a:avLst/>
          </a:prstGeom>
        </p:spPr>
      </p:pic>
      <p:pic>
        <p:nvPicPr>
          <p:cNvPr id="7" name="Kuva 6">
            <a:extLst>
              <a:ext uri="{FF2B5EF4-FFF2-40B4-BE49-F238E27FC236}">
                <a16:creationId xmlns:a16="http://schemas.microsoft.com/office/drawing/2014/main" id="{7A82F0B1-5620-D145-A053-E3BC7AB6A6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7623" y="3310996"/>
            <a:ext cx="2743200" cy="838200"/>
          </a:xfrm>
          <a:prstGeom prst="rect">
            <a:avLst/>
          </a:prstGeom>
        </p:spPr>
      </p:pic>
      <p:pic>
        <p:nvPicPr>
          <p:cNvPr id="8" name="Kuva 7">
            <a:extLst>
              <a:ext uri="{FF2B5EF4-FFF2-40B4-BE49-F238E27FC236}">
                <a16:creationId xmlns:a16="http://schemas.microsoft.com/office/drawing/2014/main" id="{6C3E948B-5D00-D44D-8664-13D245C4B9A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7018" y="1782660"/>
            <a:ext cx="2908300" cy="2768600"/>
          </a:xfrm>
          <a:prstGeom prst="rect">
            <a:avLst/>
          </a:prstGeom>
        </p:spPr>
      </p:pic>
      <p:sp>
        <p:nvSpPr>
          <p:cNvPr id="9" name="Ristinuoli 8">
            <a:extLst>
              <a:ext uri="{FF2B5EF4-FFF2-40B4-BE49-F238E27FC236}">
                <a16:creationId xmlns:a16="http://schemas.microsoft.com/office/drawing/2014/main" id="{EF1342B3-C8F1-D940-8791-70EAE973567E}"/>
              </a:ext>
            </a:extLst>
          </p:cNvPr>
          <p:cNvSpPr/>
          <p:nvPr/>
        </p:nvSpPr>
        <p:spPr>
          <a:xfrm rot="18817292">
            <a:off x="5147745" y="2302943"/>
            <a:ext cx="279400" cy="314241"/>
          </a:xfrm>
          <a:prstGeom prst="quadArrow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10" name="Tekstiruutu 9">
            <a:extLst>
              <a:ext uri="{FF2B5EF4-FFF2-40B4-BE49-F238E27FC236}">
                <a16:creationId xmlns:a16="http://schemas.microsoft.com/office/drawing/2014/main" id="{457CEA8E-1DD9-6043-9E5D-9A8BACDCDD16}"/>
              </a:ext>
            </a:extLst>
          </p:cNvPr>
          <p:cNvSpPr txBox="1"/>
          <p:nvPr/>
        </p:nvSpPr>
        <p:spPr>
          <a:xfrm>
            <a:off x="5412895" y="2302930"/>
            <a:ext cx="3109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dirty="0"/>
              <a:t>Y</a:t>
            </a:r>
          </a:p>
        </p:txBody>
      </p:sp>
    </p:spTree>
    <p:extLst>
      <p:ext uri="{BB962C8B-B14F-4D97-AF65-F5344CB8AC3E}">
        <p14:creationId xmlns:p14="http://schemas.microsoft.com/office/powerpoint/2010/main" val="25811980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997A4A5C-E7B8-EB4F-960C-B994A5DE86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1918" y="0"/>
            <a:ext cx="5761282" cy="1440392"/>
          </a:xfrm>
        </p:spPr>
        <p:txBody>
          <a:bodyPr/>
          <a:lstStyle/>
          <a:p>
            <a:r>
              <a:rPr lang="fi-FI" dirty="0"/>
              <a:t>Koodaus</a:t>
            </a:r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8234D82B-D905-C54F-BB32-3D302C919F36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791918" y="1440392"/>
            <a:ext cx="8352082" cy="5417608"/>
          </a:xfrm>
        </p:spPr>
        <p:txBody>
          <a:bodyPr/>
          <a:lstStyle/>
          <a:p>
            <a:r>
              <a:rPr lang="fi-FI" dirty="0"/>
              <a:t>Seuraavaksi käydään valitsemassa (kaksoisnapauttamalla) jokainen valikon toiminto ja lähdetään tekemään niille koodia. Valitaan ensin kaikki, niin saadaan valmiit koodipätkät jokaiselle (alla esimerkki Tiedosto-valikosta, uusi puuttuu):</a:t>
            </a:r>
          </a:p>
          <a:p>
            <a:endParaRPr lang="fi-FI" dirty="0"/>
          </a:p>
        </p:txBody>
      </p:sp>
      <p:pic>
        <p:nvPicPr>
          <p:cNvPr id="4" name="Kuva 3">
            <a:extLst>
              <a:ext uri="{FF2B5EF4-FFF2-40B4-BE49-F238E27FC236}">
                <a16:creationId xmlns:a16="http://schemas.microsoft.com/office/drawing/2014/main" id="{1BB8C3A2-28D9-284B-B4B9-646F7C5570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4954" y="2330560"/>
            <a:ext cx="6192982" cy="4433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1967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Kuva 11">
            <a:extLst>
              <a:ext uri="{FF2B5EF4-FFF2-40B4-BE49-F238E27FC236}">
                <a16:creationId xmlns:a16="http://schemas.microsoft.com/office/drawing/2014/main" id="{1DBEDD4B-2CFF-6796-79FC-FD488FB764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918" y="3288322"/>
            <a:ext cx="8113092" cy="3544076"/>
          </a:xfrm>
          <a:prstGeom prst="rect">
            <a:avLst/>
          </a:prstGeom>
        </p:spPr>
      </p:pic>
      <p:sp>
        <p:nvSpPr>
          <p:cNvPr id="2" name="Otsikko 1">
            <a:extLst>
              <a:ext uri="{FF2B5EF4-FFF2-40B4-BE49-F238E27FC236}">
                <a16:creationId xmlns:a16="http://schemas.microsoft.com/office/drawing/2014/main" id="{997A4A5C-E7B8-EB4F-960C-B994A5DE86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1918" y="64061"/>
            <a:ext cx="5761282" cy="1440392"/>
          </a:xfrm>
        </p:spPr>
        <p:txBody>
          <a:bodyPr/>
          <a:lstStyle/>
          <a:p>
            <a:r>
              <a:rPr lang="fi-FI" dirty="0"/>
              <a:t>Koodaus</a:t>
            </a:r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8234D82B-D905-C54F-BB32-3D302C919F36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791918" y="1440392"/>
            <a:ext cx="8352082" cy="5417608"/>
          </a:xfrm>
        </p:spPr>
        <p:txBody>
          <a:bodyPr/>
          <a:lstStyle/>
          <a:p>
            <a:r>
              <a:rPr lang="fi-FI" dirty="0"/>
              <a:t>Aloitetaan Tiedostovalikosta, sen ensimmäisestä kohdasta, eli Avaa-kohdasta. Tätä varten meidän pitää vetää </a:t>
            </a:r>
            <a:r>
              <a:rPr lang="fi-FI" dirty="0" err="1"/>
              <a:t>OpenFileDialog</a:t>
            </a:r>
            <a:r>
              <a:rPr lang="fi-FI" dirty="0"/>
              <a:t> meidän lomakkeelle (se menee sen alle)</a:t>
            </a:r>
          </a:p>
          <a:p>
            <a:r>
              <a:rPr lang="fi-FI" dirty="0"/>
              <a:t>Using kohtaan meidän pitää lisätä </a:t>
            </a:r>
            <a:r>
              <a:rPr lang="fi-FI" dirty="0" err="1"/>
              <a:t>using</a:t>
            </a:r>
            <a:r>
              <a:rPr lang="fi-FI" dirty="0"/>
              <a:t> </a:t>
            </a:r>
            <a:r>
              <a:rPr lang="fi-FI" dirty="0" err="1"/>
              <a:t>System.IO</a:t>
            </a:r>
            <a:r>
              <a:rPr lang="fi-FI" dirty="0"/>
              <a:t>;</a:t>
            </a:r>
          </a:p>
          <a:p>
            <a:r>
              <a:rPr lang="fi-FI" dirty="0"/>
              <a:t>Sitten koodipuolelle heti </a:t>
            </a:r>
            <a:r>
              <a:rPr lang="fi-FI" dirty="0" err="1">
                <a:solidFill>
                  <a:srgbClr val="00EEE3"/>
                </a:solidFill>
              </a:rPr>
              <a:t>Muistio:Form</a:t>
            </a:r>
            <a:r>
              <a:rPr lang="fi-FI" dirty="0">
                <a:solidFill>
                  <a:srgbClr val="00EEE3"/>
                </a:solidFill>
              </a:rPr>
              <a:t> </a:t>
            </a:r>
            <a:r>
              <a:rPr lang="fi-FI" dirty="0"/>
              <a:t>aaltosulun alle määrittelemme tiedostopolun, eli:</a:t>
            </a:r>
            <a:br>
              <a:rPr lang="fi-FI" dirty="0"/>
            </a:br>
            <a:r>
              <a:rPr lang="fi-FI" dirty="0" err="1"/>
              <a:t>string</a:t>
            </a:r>
            <a:r>
              <a:rPr lang="fi-FI" dirty="0"/>
              <a:t> tiedostopolku = ””;</a:t>
            </a:r>
          </a:p>
          <a:p>
            <a:r>
              <a:rPr lang="fi-FI" dirty="0"/>
              <a:t>Sitten kohtaan </a:t>
            </a:r>
            <a:r>
              <a:rPr lang="fi-FI" dirty="0" err="1"/>
              <a:t>avaaToolStripMenu</a:t>
            </a:r>
            <a:r>
              <a:rPr lang="fi-FI" dirty="0"/>
              <a:t>…..</a:t>
            </a:r>
            <a:br>
              <a:rPr lang="fi-FI" dirty="0"/>
            </a:br>
            <a:endParaRPr lang="fi-FI" dirty="0"/>
          </a:p>
          <a:p>
            <a:endParaRPr lang="fi-FI" dirty="0"/>
          </a:p>
        </p:txBody>
      </p:sp>
      <p:sp>
        <p:nvSpPr>
          <p:cNvPr id="7" name="Tekstiruutu 6">
            <a:extLst>
              <a:ext uri="{FF2B5EF4-FFF2-40B4-BE49-F238E27FC236}">
                <a16:creationId xmlns:a16="http://schemas.microsoft.com/office/drawing/2014/main" id="{342F2340-90C0-4741-BD5C-17BE17B2C95E}"/>
              </a:ext>
            </a:extLst>
          </p:cNvPr>
          <p:cNvSpPr txBox="1"/>
          <p:nvPr/>
        </p:nvSpPr>
        <p:spPr>
          <a:xfrm>
            <a:off x="4738256" y="2763982"/>
            <a:ext cx="4166754" cy="369332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fi-FI" dirty="0"/>
              <a:t>HUOM! Yksi rivi, voi toki kirjoittaa näinkin</a:t>
            </a:r>
          </a:p>
        </p:txBody>
      </p:sp>
      <p:cxnSp>
        <p:nvCxnSpPr>
          <p:cNvPr id="9" name="Suora nuoliyhdysviiva 8">
            <a:extLst>
              <a:ext uri="{FF2B5EF4-FFF2-40B4-BE49-F238E27FC236}">
                <a16:creationId xmlns:a16="http://schemas.microsoft.com/office/drawing/2014/main" id="{2990878E-CBEE-E847-91D2-DE696C28ABEA}"/>
              </a:ext>
            </a:extLst>
          </p:cNvPr>
          <p:cNvCxnSpPr>
            <a:cxnSpLocks/>
          </p:cNvCxnSpPr>
          <p:nvPr/>
        </p:nvCxnSpPr>
        <p:spPr>
          <a:xfrm flipH="1">
            <a:off x="6400800" y="3133314"/>
            <a:ext cx="2504210" cy="75820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uora nuoliyhdysviiva 10">
            <a:extLst>
              <a:ext uri="{FF2B5EF4-FFF2-40B4-BE49-F238E27FC236}">
                <a16:creationId xmlns:a16="http://schemas.microsoft.com/office/drawing/2014/main" id="{DAE3880E-050E-1F4C-8EEF-5BC35824CB5F}"/>
              </a:ext>
            </a:extLst>
          </p:cNvPr>
          <p:cNvCxnSpPr/>
          <p:nvPr/>
        </p:nvCxnSpPr>
        <p:spPr>
          <a:xfrm flipH="1">
            <a:off x="8218967" y="3133314"/>
            <a:ext cx="686043" cy="9283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Ellipsi 3">
            <a:extLst>
              <a:ext uri="{FF2B5EF4-FFF2-40B4-BE49-F238E27FC236}">
                <a16:creationId xmlns:a16="http://schemas.microsoft.com/office/drawing/2014/main" id="{09EEB818-F65E-E74E-A021-7987A9A23719}"/>
              </a:ext>
            </a:extLst>
          </p:cNvPr>
          <p:cNvSpPr/>
          <p:nvPr/>
        </p:nvSpPr>
        <p:spPr>
          <a:xfrm>
            <a:off x="2815938" y="5694218"/>
            <a:ext cx="706582" cy="384464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5" name="Tekstiruutu 4">
            <a:extLst>
              <a:ext uri="{FF2B5EF4-FFF2-40B4-BE49-F238E27FC236}">
                <a16:creationId xmlns:a16="http://schemas.microsoft.com/office/drawing/2014/main" id="{7A63F1C1-6B5F-FD4E-BF03-31267C74F39F}"/>
              </a:ext>
            </a:extLst>
          </p:cNvPr>
          <p:cNvSpPr txBox="1"/>
          <p:nvPr/>
        </p:nvSpPr>
        <p:spPr>
          <a:xfrm>
            <a:off x="5621481" y="6078682"/>
            <a:ext cx="2504210" cy="646331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fi-FI" dirty="0"/>
              <a:t>Tallennus ja </a:t>
            </a:r>
            <a:r>
              <a:rPr lang="fi-FI"/>
              <a:t>avaus RTF-muodossa</a:t>
            </a:r>
            <a:endParaRPr lang="fi-FI" dirty="0"/>
          </a:p>
        </p:txBody>
      </p:sp>
      <p:cxnSp>
        <p:nvCxnSpPr>
          <p:cNvPr id="10" name="Suora nuoliyhdysviiva 9">
            <a:extLst>
              <a:ext uri="{FF2B5EF4-FFF2-40B4-BE49-F238E27FC236}">
                <a16:creationId xmlns:a16="http://schemas.microsoft.com/office/drawing/2014/main" id="{17AF4E37-59C0-5545-BE95-7E88710E913A}"/>
              </a:ext>
            </a:extLst>
          </p:cNvPr>
          <p:cNvCxnSpPr>
            <a:cxnSpLocks/>
            <a:stCxn id="5" idx="1"/>
            <a:endCxn id="4" idx="5"/>
          </p:cNvCxnSpPr>
          <p:nvPr/>
        </p:nvCxnSpPr>
        <p:spPr>
          <a:xfrm flipH="1" flipV="1">
            <a:off x="3419043" y="6022379"/>
            <a:ext cx="2202438" cy="379469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587728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997A4A5C-E7B8-EB4F-960C-B994A5DE86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1918" y="0"/>
            <a:ext cx="5761282" cy="1440392"/>
          </a:xfrm>
        </p:spPr>
        <p:txBody>
          <a:bodyPr/>
          <a:lstStyle/>
          <a:p>
            <a:r>
              <a:rPr lang="fi-FI" dirty="0"/>
              <a:t>Koodaus</a:t>
            </a:r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8234D82B-D905-C54F-BB32-3D302C919F36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791918" y="1440392"/>
            <a:ext cx="8352082" cy="5417608"/>
          </a:xfrm>
        </p:spPr>
        <p:txBody>
          <a:bodyPr/>
          <a:lstStyle/>
          <a:p>
            <a:r>
              <a:rPr lang="fi-FI" dirty="0"/>
              <a:t>Olin todellakin unohtanut tuon ”uusi” –kohdan, joten otan sen nyt tähän kohtaan. Se on sinänsä helppo toteuttaa, jos ei välitä siitä, että olemassa oleva teksti pitää tallentaa – silloin voi vain </a:t>
            </a:r>
            <a:r>
              <a:rPr lang="fi-FI" dirty="0" err="1"/>
              <a:t>resetoida</a:t>
            </a:r>
            <a:r>
              <a:rPr lang="fi-FI" dirty="0"/>
              <a:t> </a:t>
            </a:r>
            <a:r>
              <a:rPr lang="fi-FI" dirty="0" err="1"/>
              <a:t>RichTextBoxin</a:t>
            </a:r>
            <a:r>
              <a:rPr lang="fi-FI" dirty="0"/>
              <a:t> sisällön:</a:t>
            </a:r>
          </a:p>
          <a:p>
            <a:endParaRPr lang="fi-FI" dirty="0"/>
          </a:p>
          <a:p>
            <a:endParaRPr lang="fi-FI" dirty="0"/>
          </a:p>
          <a:p>
            <a:endParaRPr lang="fi-FI" dirty="0"/>
          </a:p>
          <a:p>
            <a:endParaRPr lang="fi-FI" dirty="0"/>
          </a:p>
          <a:p>
            <a:r>
              <a:rPr lang="fi-FI" dirty="0"/>
              <a:t>Toki emme suinkaan jätä tuota tuohon, vaan kun olemme tehneet Tallennuskohdan, korjaamme tuon kuntoon. Tallennuskohtaa varten tarvitsemme </a:t>
            </a:r>
            <a:r>
              <a:rPr lang="fi-FI" dirty="0" err="1"/>
              <a:t>SaveFileDialogin</a:t>
            </a:r>
            <a:r>
              <a:rPr lang="fi-FI" dirty="0"/>
              <a:t>, joka pitää vetää lomakkeelle</a:t>
            </a:r>
          </a:p>
          <a:p>
            <a:endParaRPr lang="fi-FI" dirty="0"/>
          </a:p>
          <a:p>
            <a:pPr marL="0" indent="0">
              <a:buNone/>
            </a:pPr>
            <a:br>
              <a:rPr lang="fi-FI" dirty="0"/>
            </a:br>
            <a:endParaRPr lang="fi-FI" dirty="0"/>
          </a:p>
          <a:p>
            <a:endParaRPr lang="fi-FI" dirty="0"/>
          </a:p>
        </p:txBody>
      </p:sp>
      <p:pic>
        <p:nvPicPr>
          <p:cNvPr id="4" name="Kuva 3">
            <a:extLst>
              <a:ext uri="{FF2B5EF4-FFF2-40B4-BE49-F238E27FC236}">
                <a16:creationId xmlns:a16="http://schemas.microsoft.com/office/drawing/2014/main" id="{2485AC56-D204-6F48-B851-0B3B7729CB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0959" y="2438400"/>
            <a:ext cx="7874000" cy="99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06699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740B53F3-22BD-A945-9015-2DA3A39C3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1918" y="0"/>
            <a:ext cx="5761282" cy="1063256"/>
          </a:xfrm>
        </p:spPr>
        <p:txBody>
          <a:bodyPr/>
          <a:lstStyle/>
          <a:p>
            <a:r>
              <a:rPr lang="fi-FI" dirty="0"/>
              <a:t>Koodaus - Tallenna</a:t>
            </a:r>
          </a:p>
        </p:txBody>
      </p:sp>
      <p:pic>
        <p:nvPicPr>
          <p:cNvPr id="5" name="Kuva 4">
            <a:extLst>
              <a:ext uri="{FF2B5EF4-FFF2-40B4-BE49-F238E27FC236}">
                <a16:creationId xmlns:a16="http://schemas.microsoft.com/office/drawing/2014/main" id="{D0862A03-66A6-0E1D-76D3-A11562965E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918" y="999881"/>
            <a:ext cx="7573913" cy="5438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18068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740B53F3-22BD-A945-9015-2DA3A39C3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1918" y="0"/>
            <a:ext cx="5761282" cy="1063256"/>
          </a:xfrm>
        </p:spPr>
        <p:txBody>
          <a:bodyPr/>
          <a:lstStyle/>
          <a:p>
            <a:r>
              <a:rPr lang="fi-FI" dirty="0"/>
              <a:t>Koodaus – Tallenna nimellä</a:t>
            </a:r>
          </a:p>
        </p:txBody>
      </p:sp>
      <p:pic>
        <p:nvPicPr>
          <p:cNvPr id="3" name="Kuva 2">
            <a:extLst>
              <a:ext uri="{FF2B5EF4-FFF2-40B4-BE49-F238E27FC236}">
                <a16:creationId xmlns:a16="http://schemas.microsoft.com/office/drawing/2014/main" id="{7964E9DE-60AF-6342-9561-1AEF3E28A7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752032"/>
            <a:ext cx="9144000" cy="3714364"/>
          </a:xfrm>
          <a:prstGeom prst="rect">
            <a:avLst/>
          </a:prstGeom>
        </p:spPr>
      </p:pic>
      <p:sp>
        <p:nvSpPr>
          <p:cNvPr id="5" name="Tekstiruutu 4">
            <a:extLst>
              <a:ext uri="{FF2B5EF4-FFF2-40B4-BE49-F238E27FC236}">
                <a16:creationId xmlns:a16="http://schemas.microsoft.com/office/drawing/2014/main" id="{2BA5CEA1-5194-0049-B846-CE9E8A84A697}"/>
              </a:ext>
            </a:extLst>
          </p:cNvPr>
          <p:cNvSpPr txBox="1"/>
          <p:nvPr/>
        </p:nvSpPr>
        <p:spPr>
          <a:xfrm>
            <a:off x="893135" y="1148316"/>
            <a:ext cx="68367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i-FI" dirty="0"/>
              <a:t>Voimme tässä käyttää tallenna komennon koodia, mutta voimme jättää siitä osan pois.</a:t>
            </a:r>
          </a:p>
        </p:txBody>
      </p:sp>
    </p:spTree>
    <p:extLst>
      <p:ext uri="{BB962C8B-B14F-4D97-AF65-F5344CB8AC3E}">
        <p14:creationId xmlns:p14="http://schemas.microsoft.com/office/powerpoint/2010/main" val="29811594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740B53F3-22BD-A945-9015-2DA3A39C3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1918" y="0"/>
            <a:ext cx="5761282" cy="1063256"/>
          </a:xfrm>
        </p:spPr>
        <p:txBody>
          <a:bodyPr/>
          <a:lstStyle/>
          <a:p>
            <a:r>
              <a:rPr lang="fi-FI" dirty="0"/>
              <a:t>Koodaus - Tallenna</a:t>
            </a:r>
          </a:p>
        </p:txBody>
      </p:sp>
      <p:sp>
        <p:nvSpPr>
          <p:cNvPr id="5" name="Sisällön paikkamerkki 2">
            <a:extLst>
              <a:ext uri="{FF2B5EF4-FFF2-40B4-BE49-F238E27FC236}">
                <a16:creationId xmlns:a16="http://schemas.microsoft.com/office/drawing/2014/main" id="{7EF972DF-8F52-AA42-B3E3-E5135AC88E40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791918" y="1440392"/>
            <a:ext cx="8352082" cy="5417608"/>
          </a:xfrm>
        </p:spPr>
        <p:txBody>
          <a:bodyPr/>
          <a:lstStyle/>
          <a:p>
            <a:r>
              <a:rPr lang="fi-FI" dirty="0"/>
              <a:t>Korjataan nyt tuo ”Uusi” – valikko, eli kutsutaan tallenna-valikkoa siinä tapauksessa, jos tekstiä löytyy…</a:t>
            </a:r>
          </a:p>
          <a:p>
            <a:endParaRPr lang="fi-FI" dirty="0"/>
          </a:p>
          <a:p>
            <a:pPr marL="0" indent="0">
              <a:buNone/>
            </a:pPr>
            <a:br>
              <a:rPr lang="fi-FI" dirty="0"/>
            </a:br>
            <a:endParaRPr lang="fi-FI" dirty="0"/>
          </a:p>
          <a:p>
            <a:endParaRPr lang="fi-FI" dirty="0"/>
          </a:p>
        </p:txBody>
      </p:sp>
      <p:pic>
        <p:nvPicPr>
          <p:cNvPr id="3" name="Kuva 2">
            <a:extLst>
              <a:ext uri="{FF2B5EF4-FFF2-40B4-BE49-F238E27FC236}">
                <a16:creationId xmlns:a16="http://schemas.microsoft.com/office/drawing/2014/main" id="{78DF69A7-CA4E-9E4A-9654-467046A97A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0959" y="2111301"/>
            <a:ext cx="7874000" cy="3060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78418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740B53F3-22BD-A945-9015-2DA3A39C3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1918" y="0"/>
            <a:ext cx="5761282" cy="1063256"/>
          </a:xfrm>
        </p:spPr>
        <p:txBody>
          <a:bodyPr/>
          <a:lstStyle/>
          <a:p>
            <a:r>
              <a:rPr lang="fi-FI" dirty="0"/>
              <a:t>Koodaus - Tulosta</a:t>
            </a:r>
          </a:p>
        </p:txBody>
      </p:sp>
      <p:sp>
        <p:nvSpPr>
          <p:cNvPr id="5" name="Sisällön paikkamerkki 2">
            <a:extLst>
              <a:ext uri="{FF2B5EF4-FFF2-40B4-BE49-F238E27FC236}">
                <a16:creationId xmlns:a16="http://schemas.microsoft.com/office/drawing/2014/main" id="{7EF972DF-8F52-AA42-B3E3-E5135AC88E40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791918" y="1440392"/>
            <a:ext cx="8352082" cy="5417608"/>
          </a:xfrm>
        </p:spPr>
        <p:txBody>
          <a:bodyPr/>
          <a:lstStyle/>
          <a:p>
            <a:r>
              <a:rPr lang="fi-FI" dirty="0"/>
              <a:t>Vedä nyt alas kaksi työkalua: </a:t>
            </a:r>
            <a:r>
              <a:rPr lang="fi-FI" dirty="0" err="1"/>
              <a:t>PrintPreviewDialog</a:t>
            </a:r>
            <a:r>
              <a:rPr lang="fi-FI" dirty="0"/>
              <a:t>, </a:t>
            </a:r>
            <a:r>
              <a:rPr lang="fi-FI" dirty="0" err="1"/>
              <a:t>PrintDialog</a:t>
            </a:r>
            <a:r>
              <a:rPr lang="fi-FI" dirty="0"/>
              <a:t> ja </a:t>
            </a:r>
            <a:r>
              <a:rPr lang="fi-FI" dirty="0" err="1"/>
              <a:t>printDocument</a:t>
            </a:r>
            <a:endParaRPr lang="fi-FI" dirty="0"/>
          </a:p>
          <a:p>
            <a:r>
              <a:rPr lang="fi-FI" dirty="0" err="1"/>
              <a:t>Kaksoisnapauta</a:t>
            </a:r>
            <a:r>
              <a:rPr lang="fi-FI" dirty="0"/>
              <a:t> sen jälkeen </a:t>
            </a:r>
            <a:r>
              <a:rPr lang="fi-FI" dirty="0" err="1"/>
              <a:t>printDocument</a:t>
            </a:r>
            <a:r>
              <a:rPr lang="fi-FI" dirty="0"/>
              <a:t>-työkalua ja kirjoita:</a:t>
            </a:r>
          </a:p>
          <a:p>
            <a:endParaRPr lang="fi-FI" dirty="0"/>
          </a:p>
          <a:p>
            <a:r>
              <a:rPr lang="fi-FI" dirty="0"/>
              <a:t>Tuo </a:t>
            </a:r>
            <a:r>
              <a:rPr lang="fi-FI" dirty="0" err="1"/>
              <a:t>e.Graphics.DrawString</a:t>
            </a:r>
            <a:r>
              <a:rPr lang="fi-FI" dirty="0"/>
              <a:t> ottaa vastaan seuraavat attribuutit</a:t>
            </a:r>
          </a:p>
          <a:p>
            <a:pPr lvl="1"/>
            <a:r>
              <a:rPr lang="fi-FI" dirty="0"/>
              <a:t>Tekstijonon (</a:t>
            </a:r>
            <a:r>
              <a:rPr lang="fi-FI" dirty="0" err="1"/>
              <a:t>stringin</a:t>
            </a:r>
            <a:r>
              <a:rPr lang="fi-FI" dirty="0"/>
              <a:t>), jonka se ”piirtää”, eli tulostaa</a:t>
            </a:r>
          </a:p>
          <a:p>
            <a:pPr lvl="1"/>
            <a:r>
              <a:rPr lang="fi-FI" dirty="0"/>
              <a:t>Fontin, joka määrittelee tekstin ”muodon” tekstijonolle (tässä tyhjä), olisi voitu määrittää esim. </a:t>
            </a:r>
            <a:r>
              <a:rPr lang="fi-FI" dirty="0" err="1"/>
              <a:t>TekstilaatikkoRTB.font</a:t>
            </a:r>
            <a:endParaRPr lang="fi-FI" dirty="0"/>
          </a:p>
          <a:p>
            <a:pPr lvl="1"/>
            <a:r>
              <a:rPr lang="fi-FI" dirty="0" err="1"/>
              <a:t>Brushes</a:t>
            </a:r>
            <a:r>
              <a:rPr lang="fi-FI" dirty="0"/>
              <a:t>, joka määrittelee fontin värin ja tekstuurin</a:t>
            </a:r>
          </a:p>
          <a:p>
            <a:pPr lvl="1"/>
            <a:r>
              <a:rPr lang="fi-FI" dirty="0"/>
              <a:t>Ja lopuksi koordinaatit (x, y), josta tulostus alkaa</a:t>
            </a:r>
          </a:p>
          <a:p>
            <a:r>
              <a:rPr lang="fi-FI" dirty="0"/>
              <a:t>Sitten kohtaan tulostuksen esikatselu kirjoita:</a:t>
            </a:r>
          </a:p>
          <a:p>
            <a:endParaRPr lang="fi-FI" dirty="0"/>
          </a:p>
          <a:p>
            <a:endParaRPr lang="fi-FI" dirty="0"/>
          </a:p>
          <a:p>
            <a:pPr marL="0" indent="0">
              <a:buNone/>
            </a:pPr>
            <a:br>
              <a:rPr lang="fi-FI" dirty="0"/>
            </a:br>
            <a:endParaRPr lang="fi-FI" dirty="0"/>
          </a:p>
          <a:p>
            <a:endParaRPr lang="fi-FI" dirty="0"/>
          </a:p>
        </p:txBody>
      </p:sp>
      <p:pic>
        <p:nvPicPr>
          <p:cNvPr id="4" name="Kuva 3">
            <a:extLst>
              <a:ext uri="{FF2B5EF4-FFF2-40B4-BE49-F238E27FC236}">
                <a16:creationId xmlns:a16="http://schemas.microsoft.com/office/drawing/2014/main" id="{4E6C2621-0B5D-AD49-8665-6059022B64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40242"/>
            <a:ext cx="9144000" cy="238351"/>
          </a:xfrm>
          <a:prstGeom prst="rect">
            <a:avLst/>
          </a:prstGeom>
        </p:spPr>
      </p:pic>
      <p:pic>
        <p:nvPicPr>
          <p:cNvPr id="6" name="Kuva 5">
            <a:extLst>
              <a:ext uri="{FF2B5EF4-FFF2-40B4-BE49-F238E27FC236}">
                <a16:creationId xmlns:a16="http://schemas.microsoft.com/office/drawing/2014/main" id="{03F88C64-5B77-4445-B679-F247B3A7A4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024" y="4763558"/>
            <a:ext cx="5930900" cy="1308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08850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740B53F3-22BD-A945-9015-2DA3A39C3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1918" y="0"/>
            <a:ext cx="5761282" cy="1063256"/>
          </a:xfrm>
        </p:spPr>
        <p:txBody>
          <a:bodyPr/>
          <a:lstStyle/>
          <a:p>
            <a:r>
              <a:rPr lang="fi-FI" dirty="0"/>
              <a:t>Koodaus - Tulosta</a:t>
            </a:r>
          </a:p>
        </p:txBody>
      </p:sp>
      <p:sp>
        <p:nvSpPr>
          <p:cNvPr id="5" name="Sisällön paikkamerkki 2">
            <a:extLst>
              <a:ext uri="{FF2B5EF4-FFF2-40B4-BE49-F238E27FC236}">
                <a16:creationId xmlns:a16="http://schemas.microsoft.com/office/drawing/2014/main" id="{7EF972DF-8F52-AA42-B3E3-E5135AC88E40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791918" y="1440392"/>
            <a:ext cx="8352082" cy="5417608"/>
          </a:xfrm>
        </p:spPr>
        <p:txBody>
          <a:bodyPr>
            <a:normAutofit/>
          </a:bodyPr>
          <a:lstStyle/>
          <a:p>
            <a:r>
              <a:rPr lang="fi-FI" dirty="0"/>
              <a:t>Kirjoita tulosta kohtaan seuraavasti</a:t>
            </a:r>
          </a:p>
          <a:p>
            <a:endParaRPr lang="fi-FI" dirty="0"/>
          </a:p>
          <a:p>
            <a:endParaRPr lang="fi-FI" dirty="0"/>
          </a:p>
          <a:p>
            <a:endParaRPr lang="fi-FI" dirty="0"/>
          </a:p>
          <a:p>
            <a:endParaRPr lang="fi-FI" dirty="0"/>
          </a:p>
          <a:p>
            <a:endParaRPr lang="fi-FI" dirty="0"/>
          </a:p>
          <a:p>
            <a:endParaRPr lang="fi-FI" dirty="0"/>
          </a:p>
          <a:p>
            <a:r>
              <a:rPr lang="fi-FI" dirty="0"/>
              <a:t>Poistu kohtaan kirjoita:</a:t>
            </a:r>
          </a:p>
          <a:p>
            <a:endParaRPr lang="fi-FI" dirty="0"/>
          </a:p>
          <a:p>
            <a:endParaRPr lang="fi-FI" dirty="0"/>
          </a:p>
          <a:p>
            <a:endParaRPr lang="fi-FI" dirty="0"/>
          </a:p>
          <a:p>
            <a:r>
              <a:rPr lang="fi-FI" dirty="0"/>
              <a:t>Nyt</a:t>
            </a:r>
          </a:p>
        </p:txBody>
      </p:sp>
      <p:pic>
        <p:nvPicPr>
          <p:cNvPr id="3" name="Kuva 2">
            <a:extLst>
              <a:ext uri="{FF2B5EF4-FFF2-40B4-BE49-F238E27FC236}">
                <a16:creationId xmlns:a16="http://schemas.microsoft.com/office/drawing/2014/main" id="{924735F9-1148-1C45-B41F-41238ED3FB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0278" y="1809012"/>
            <a:ext cx="6057900" cy="2006600"/>
          </a:xfrm>
          <a:prstGeom prst="rect">
            <a:avLst/>
          </a:prstGeom>
        </p:spPr>
      </p:pic>
      <p:pic>
        <p:nvPicPr>
          <p:cNvPr id="7" name="Kuva 6">
            <a:extLst>
              <a:ext uri="{FF2B5EF4-FFF2-40B4-BE49-F238E27FC236}">
                <a16:creationId xmlns:a16="http://schemas.microsoft.com/office/drawing/2014/main" id="{C5B68F99-57B0-E145-9F1B-50A9969A6D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0278" y="4065034"/>
            <a:ext cx="2209800" cy="1003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58763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740B53F3-22BD-A945-9015-2DA3A39C3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1918" y="0"/>
            <a:ext cx="5761282" cy="1063256"/>
          </a:xfrm>
        </p:spPr>
        <p:txBody>
          <a:bodyPr/>
          <a:lstStyle/>
          <a:p>
            <a:r>
              <a:rPr lang="fi-FI" dirty="0"/>
              <a:t>Koodaus – Muokkaa valikko</a:t>
            </a:r>
          </a:p>
        </p:txBody>
      </p:sp>
      <p:sp>
        <p:nvSpPr>
          <p:cNvPr id="5" name="Sisällön paikkamerkki 2">
            <a:extLst>
              <a:ext uri="{FF2B5EF4-FFF2-40B4-BE49-F238E27FC236}">
                <a16:creationId xmlns:a16="http://schemas.microsoft.com/office/drawing/2014/main" id="{7EF972DF-8F52-AA42-B3E3-E5135AC88E40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791918" y="1440392"/>
            <a:ext cx="8352082" cy="5417608"/>
          </a:xfrm>
        </p:spPr>
        <p:txBody>
          <a:bodyPr/>
          <a:lstStyle/>
          <a:p>
            <a:r>
              <a:rPr lang="fi-FI" dirty="0"/>
              <a:t>Seuraaviin kohtiin kaikkiin tulee ensin</a:t>
            </a:r>
          </a:p>
          <a:p>
            <a:pPr lvl="1"/>
            <a:r>
              <a:rPr lang="fi-FI" dirty="0" err="1"/>
              <a:t>TekstilaatikkoRTB</a:t>
            </a:r>
            <a:r>
              <a:rPr lang="fi-FI" dirty="0"/>
              <a:t>. Ja sen jälkeen</a:t>
            </a:r>
          </a:p>
          <a:p>
            <a:pPr lvl="2"/>
            <a:r>
              <a:rPr lang="fi-FI" dirty="0" err="1"/>
              <a:t>Undo</a:t>
            </a:r>
            <a:r>
              <a:rPr lang="fi-FI" dirty="0"/>
              <a:t>();</a:t>
            </a:r>
          </a:p>
          <a:p>
            <a:pPr lvl="2"/>
            <a:r>
              <a:rPr lang="fi-FI" dirty="0" err="1"/>
              <a:t>Redo</a:t>
            </a:r>
            <a:r>
              <a:rPr lang="fi-FI" dirty="0"/>
              <a:t>();</a:t>
            </a:r>
          </a:p>
          <a:p>
            <a:pPr lvl="2"/>
            <a:r>
              <a:rPr lang="fi-FI" dirty="0"/>
              <a:t>Copy();</a:t>
            </a:r>
          </a:p>
          <a:p>
            <a:pPr lvl="2"/>
            <a:r>
              <a:rPr lang="fi-FI" dirty="0" err="1"/>
              <a:t>Cut</a:t>
            </a:r>
            <a:r>
              <a:rPr lang="fi-FI" dirty="0"/>
              <a:t>();</a:t>
            </a:r>
          </a:p>
          <a:p>
            <a:pPr lvl="2"/>
            <a:r>
              <a:rPr lang="fi-FI" dirty="0" err="1"/>
              <a:t>Paste</a:t>
            </a:r>
            <a:r>
              <a:rPr lang="fi-FI" dirty="0"/>
              <a:t>();</a:t>
            </a:r>
          </a:p>
          <a:p>
            <a:pPr lvl="2"/>
            <a:r>
              <a:rPr lang="fi-FI" dirty="0" err="1"/>
              <a:t>SelectedText</a:t>
            </a:r>
            <a:r>
              <a:rPr lang="fi-FI" dirty="0"/>
              <a:t> = ””;</a:t>
            </a:r>
          </a:p>
          <a:p>
            <a:pPr lvl="2"/>
            <a:r>
              <a:rPr lang="fi-FI" dirty="0" err="1"/>
              <a:t>SelectAll</a:t>
            </a:r>
            <a:r>
              <a:rPr lang="fi-FI" dirty="0"/>
              <a:t>();</a:t>
            </a:r>
          </a:p>
          <a:p>
            <a:pPr lvl="1"/>
            <a:r>
              <a:rPr lang="fi-FI" dirty="0"/>
              <a:t>Eli siis esimerkiksi</a:t>
            </a:r>
          </a:p>
          <a:p>
            <a:endParaRPr lang="fi-FI" dirty="0"/>
          </a:p>
          <a:p>
            <a:pPr marL="0" indent="0">
              <a:buNone/>
            </a:pPr>
            <a:br>
              <a:rPr lang="fi-FI" dirty="0"/>
            </a:br>
            <a:endParaRPr lang="fi-FI" dirty="0"/>
          </a:p>
          <a:p>
            <a:endParaRPr lang="fi-FI" dirty="0"/>
          </a:p>
        </p:txBody>
      </p:sp>
      <p:pic>
        <p:nvPicPr>
          <p:cNvPr id="3" name="Kuva 2">
            <a:extLst>
              <a:ext uri="{FF2B5EF4-FFF2-40B4-BE49-F238E27FC236}">
                <a16:creationId xmlns:a16="http://schemas.microsoft.com/office/drawing/2014/main" id="{D9340A78-F2A7-1340-9881-02D370AA8C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6779" y="4785981"/>
            <a:ext cx="3581400" cy="1028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48037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740B53F3-22BD-A945-9015-2DA3A39C3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1918" y="0"/>
            <a:ext cx="5761282" cy="1063256"/>
          </a:xfrm>
        </p:spPr>
        <p:txBody>
          <a:bodyPr/>
          <a:lstStyle/>
          <a:p>
            <a:r>
              <a:rPr lang="fi-FI" dirty="0"/>
              <a:t>Koodaus – Muokkaa valikko</a:t>
            </a:r>
          </a:p>
        </p:txBody>
      </p:sp>
      <p:sp>
        <p:nvSpPr>
          <p:cNvPr id="5" name="Sisällön paikkamerkki 2">
            <a:extLst>
              <a:ext uri="{FF2B5EF4-FFF2-40B4-BE49-F238E27FC236}">
                <a16:creationId xmlns:a16="http://schemas.microsoft.com/office/drawing/2014/main" id="{7EF972DF-8F52-AA42-B3E3-E5135AC88E40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791918" y="1440392"/>
            <a:ext cx="8352082" cy="5417608"/>
          </a:xfrm>
        </p:spPr>
        <p:txBody>
          <a:bodyPr/>
          <a:lstStyle/>
          <a:p>
            <a:r>
              <a:rPr lang="fi-FI" dirty="0"/>
              <a:t>Kuitenkin Copy ja </a:t>
            </a:r>
            <a:r>
              <a:rPr lang="fi-FI" dirty="0" err="1"/>
              <a:t>Cut</a:t>
            </a:r>
            <a:r>
              <a:rPr lang="fi-FI" dirty="0"/>
              <a:t> komennothan ovat turhia, jos meillä ei ole mitään tekstiä, korjaamme tilanteen siten, että ne ovat toiminnassa vain silloin, kun tekstiä on olemassa. </a:t>
            </a:r>
          </a:p>
          <a:p>
            <a:r>
              <a:rPr lang="fi-FI" dirty="0"/>
              <a:t>Mene Design-puolelle ja valitse Tekstilaatikko. Valitse </a:t>
            </a:r>
            <a:r>
              <a:rPr lang="fi-FI" dirty="0" err="1"/>
              <a:t>Properties</a:t>
            </a:r>
            <a:r>
              <a:rPr lang="fi-FI" dirty="0"/>
              <a:t> puolelta Salaman kuva ja </a:t>
            </a:r>
            <a:r>
              <a:rPr lang="fi-FI" dirty="0" err="1"/>
              <a:t>kaksoisnapauta</a:t>
            </a:r>
            <a:r>
              <a:rPr lang="fi-FI" dirty="0"/>
              <a:t> </a:t>
            </a:r>
            <a:r>
              <a:rPr lang="fi-FI" dirty="0" err="1"/>
              <a:t>TextChanged</a:t>
            </a:r>
            <a:r>
              <a:rPr lang="fi-FI" dirty="0"/>
              <a:t> kohdan jälkeen ja kirjoita tämä sinne</a:t>
            </a:r>
          </a:p>
          <a:p>
            <a:r>
              <a:rPr lang="fi-FI" dirty="0"/>
              <a:t>Määritä Design-puolella oletuksena Kopioi ja Leikkaa </a:t>
            </a:r>
            <a:r>
              <a:rPr lang="fi-FI" dirty="0" err="1"/>
              <a:t>Properties</a:t>
            </a:r>
            <a:r>
              <a:rPr lang="fi-FI" dirty="0"/>
              <a:t> </a:t>
            </a:r>
            <a:r>
              <a:rPr lang="fi-FI" dirty="0" err="1"/>
              <a:t>Enabled</a:t>
            </a:r>
            <a:r>
              <a:rPr lang="fi-FI" dirty="0"/>
              <a:t> kohdat </a:t>
            </a:r>
            <a:r>
              <a:rPr lang="fi-FI" dirty="0" err="1"/>
              <a:t>falseksi</a:t>
            </a:r>
            <a:r>
              <a:rPr lang="fi-FI" dirty="0"/>
              <a:t>, jolloin ne ovat aluksi </a:t>
            </a:r>
            <a:r>
              <a:rPr lang="fi-FI" dirty="0" err="1"/>
              <a:t>falsena</a:t>
            </a:r>
            <a:r>
              <a:rPr lang="fi-FI" dirty="0"/>
              <a:t>, kunnes tulee tekstiä</a:t>
            </a:r>
          </a:p>
          <a:p>
            <a:pPr marL="0" indent="0">
              <a:buNone/>
            </a:pPr>
            <a:br>
              <a:rPr lang="fi-FI" dirty="0"/>
            </a:br>
            <a:endParaRPr lang="fi-FI" dirty="0"/>
          </a:p>
          <a:p>
            <a:endParaRPr lang="fi-FI" dirty="0"/>
          </a:p>
        </p:txBody>
      </p:sp>
      <p:pic>
        <p:nvPicPr>
          <p:cNvPr id="4" name="Kuva 3">
            <a:extLst>
              <a:ext uri="{FF2B5EF4-FFF2-40B4-BE49-F238E27FC236}">
                <a16:creationId xmlns:a16="http://schemas.microsoft.com/office/drawing/2014/main" id="{B6F076D3-AB5D-5C44-8DDE-EC72BC3718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5845" y="3605618"/>
            <a:ext cx="5664200" cy="3238500"/>
          </a:xfrm>
          <a:prstGeom prst="rect">
            <a:avLst/>
          </a:prstGeom>
        </p:spPr>
      </p:pic>
      <p:pic>
        <p:nvPicPr>
          <p:cNvPr id="6" name="Kuva 5">
            <a:extLst>
              <a:ext uri="{FF2B5EF4-FFF2-40B4-BE49-F238E27FC236}">
                <a16:creationId xmlns:a16="http://schemas.microsoft.com/office/drawing/2014/main" id="{E755CB6A-FA2C-AB40-B871-C48CFB260B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1977" y="3776773"/>
            <a:ext cx="2286000" cy="2298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25528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740B53F3-22BD-A945-9015-2DA3A39C3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1918" y="0"/>
            <a:ext cx="5761282" cy="1063256"/>
          </a:xfrm>
        </p:spPr>
        <p:txBody>
          <a:bodyPr/>
          <a:lstStyle/>
          <a:p>
            <a:r>
              <a:rPr lang="fi-FI" dirty="0"/>
              <a:t>Koodaus – Muotoile valikko</a:t>
            </a:r>
          </a:p>
        </p:txBody>
      </p:sp>
      <p:sp>
        <p:nvSpPr>
          <p:cNvPr id="5" name="Sisällön paikkamerkki 2">
            <a:extLst>
              <a:ext uri="{FF2B5EF4-FFF2-40B4-BE49-F238E27FC236}">
                <a16:creationId xmlns:a16="http://schemas.microsoft.com/office/drawing/2014/main" id="{7EF972DF-8F52-AA42-B3E3-E5135AC88E40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791918" y="1440392"/>
            <a:ext cx="8352082" cy="5417608"/>
          </a:xfrm>
        </p:spPr>
        <p:txBody>
          <a:bodyPr>
            <a:normAutofit/>
          </a:bodyPr>
          <a:lstStyle/>
          <a:p>
            <a:r>
              <a:rPr lang="fi-FI" dirty="0"/>
              <a:t>Aloitetaan tekstin rivityksestä, eli rivitetään teksti ikkunan mukaan, mikäli ko. kohta on valittu. Kirjoita ko. kohtaan seuraavasti:</a:t>
            </a:r>
          </a:p>
          <a:p>
            <a:endParaRPr lang="fi-FI" dirty="0"/>
          </a:p>
          <a:p>
            <a:endParaRPr lang="fi-FI" dirty="0"/>
          </a:p>
          <a:p>
            <a:endParaRPr lang="fi-FI" dirty="0"/>
          </a:p>
          <a:p>
            <a:endParaRPr lang="fi-FI" dirty="0"/>
          </a:p>
          <a:p>
            <a:endParaRPr lang="fi-FI" dirty="0"/>
          </a:p>
          <a:p>
            <a:endParaRPr lang="fi-FI" dirty="0"/>
          </a:p>
          <a:p>
            <a:endParaRPr lang="fi-FI" dirty="0"/>
          </a:p>
          <a:p>
            <a:endParaRPr lang="fi-FI" dirty="0"/>
          </a:p>
          <a:p>
            <a:endParaRPr lang="fi-FI" dirty="0"/>
          </a:p>
          <a:p>
            <a:endParaRPr lang="fi-FI" dirty="0"/>
          </a:p>
          <a:p>
            <a:r>
              <a:rPr lang="fi-FI" dirty="0" err="1"/>
              <a:t>WordWrap</a:t>
            </a:r>
            <a:r>
              <a:rPr lang="fi-FI" dirty="0"/>
              <a:t> ominaisuus pitää tietenkin ottaa </a:t>
            </a:r>
            <a:r>
              <a:rPr lang="fi-FI" dirty="0" err="1"/>
              <a:t>TekstilaatikkoRTB:stä</a:t>
            </a:r>
            <a:br>
              <a:rPr lang="fi-FI" dirty="0"/>
            </a:br>
            <a:r>
              <a:rPr lang="fi-FI" dirty="0"/>
              <a:t>pois päältä, jotta näemme, miten tuo yllä toimii, eli vaihda se</a:t>
            </a:r>
            <a:br>
              <a:rPr lang="fi-FI" dirty="0"/>
            </a:br>
            <a:r>
              <a:rPr lang="fi-FI" dirty="0" err="1"/>
              <a:t>Falseksi</a:t>
            </a:r>
            <a:br>
              <a:rPr lang="fi-FI" dirty="0"/>
            </a:br>
            <a:endParaRPr lang="fi-FI" dirty="0"/>
          </a:p>
          <a:p>
            <a:endParaRPr lang="fi-FI" dirty="0"/>
          </a:p>
        </p:txBody>
      </p:sp>
      <p:pic>
        <p:nvPicPr>
          <p:cNvPr id="4" name="Kuva 3">
            <a:extLst>
              <a:ext uri="{FF2B5EF4-FFF2-40B4-BE49-F238E27FC236}">
                <a16:creationId xmlns:a16="http://schemas.microsoft.com/office/drawing/2014/main" id="{6882231A-1AB6-004B-9274-6C6A769055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3800" y="2024617"/>
            <a:ext cx="6756400" cy="3276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07261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740B53F3-22BD-A945-9015-2DA3A39C3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1918" y="0"/>
            <a:ext cx="5761282" cy="1063256"/>
          </a:xfrm>
        </p:spPr>
        <p:txBody>
          <a:bodyPr/>
          <a:lstStyle/>
          <a:p>
            <a:r>
              <a:rPr lang="fi-FI" dirty="0"/>
              <a:t>Koodaus – Muotoile valikko</a:t>
            </a:r>
          </a:p>
        </p:txBody>
      </p:sp>
      <p:sp>
        <p:nvSpPr>
          <p:cNvPr id="5" name="Sisällön paikkamerkki 2">
            <a:extLst>
              <a:ext uri="{FF2B5EF4-FFF2-40B4-BE49-F238E27FC236}">
                <a16:creationId xmlns:a16="http://schemas.microsoft.com/office/drawing/2014/main" id="{7EF972DF-8F52-AA42-B3E3-E5135AC88E40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791918" y="1440392"/>
            <a:ext cx="8352082" cy="5417608"/>
          </a:xfrm>
        </p:spPr>
        <p:txBody>
          <a:bodyPr>
            <a:normAutofit/>
          </a:bodyPr>
          <a:lstStyle/>
          <a:p>
            <a:r>
              <a:rPr lang="fi-FI" dirty="0"/>
              <a:t>Sitten kirjasinvalikkoa varten vedä </a:t>
            </a:r>
            <a:r>
              <a:rPr lang="fi-FI" dirty="0" err="1"/>
              <a:t>FontDialog</a:t>
            </a:r>
            <a:r>
              <a:rPr lang="fi-FI" dirty="0"/>
              <a:t> </a:t>
            </a:r>
            <a:r>
              <a:rPr lang="fi-FI" dirty="0" err="1"/>
              <a:t>muiten</a:t>
            </a:r>
            <a:r>
              <a:rPr lang="fi-FI" dirty="0"/>
              <a:t> Dialogien joukkoon ja lähde koodaamaan Kirjasinta</a:t>
            </a:r>
          </a:p>
          <a:p>
            <a:endParaRPr lang="fi-FI" dirty="0"/>
          </a:p>
          <a:p>
            <a:endParaRPr lang="fi-FI" dirty="0"/>
          </a:p>
          <a:p>
            <a:endParaRPr lang="fi-FI" dirty="0"/>
          </a:p>
          <a:p>
            <a:r>
              <a:rPr lang="fi-FI" dirty="0"/>
              <a:t>Sinänsä noilla määritteillä ei ole väliä, kun tallennamme puhtaana tekstinä. Korjatkaamme tuo ja palatkaamme tallenna ja tallenna nimellä ja Avaa Dialogeihin ja korjaa </a:t>
            </a:r>
            <a:r>
              <a:rPr lang="fi-FI" dirty="0" err="1"/>
              <a:t>Filter</a:t>
            </a:r>
            <a:r>
              <a:rPr lang="fi-FI" dirty="0"/>
              <a:t> kohtaan molempiin kohtiin:</a:t>
            </a:r>
          </a:p>
          <a:p>
            <a:endParaRPr lang="fi-FI" dirty="0"/>
          </a:p>
          <a:p>
            <a:r>
              <a:rPr lang="fi-FI" dirty="0"/>
              <a:t>Näin voimme tallentaa myös fontin, fontin koon ja fontin tyylin, kunhan korjaamme myös samoissa kohdissa (tallenna, </a:t>
            </a:r>
            <a:r>
              <a:rPr lang="fi-FI" dirty="0" err="1"/>
              <a:t>tall</a:t>
            </a:r>
            <a:r>
              <a:rPr lang="fi-FI" dirty="0"/>
              <a:t> nimellä, avaa) seuraavasti:</a:t>
            </a:r>
            <a:br>
              <a:rPr lang="fi-FI" dirty="0"/>
            </a:br>
            <a:r>
              <a:rPr lang="fi-FI" dirty="0" err="1"/>
              <a:t>TekstilaatikkoRTB.Rtf</a:t>
            </a:r>
            <a:r>
              <a:rPr lang="fi-FI" dirty="0"/>
              <a:t> = </a:t>
            </a:r>
            <a:r>
              <a:rPr lang="fi-FI" dirty="0" err="1"/>
              <a:t>text.Result</a:t>
            </a:r>
            <a:r>
              <a:rPr lang="fi-FI" dirty="0"/>
              <a:t>; (Oli: Teksti….</a:t>
            </a:r>
            <a:r>
              <a:rPr lang="fi-FI" dirty="0" err="1"/>
              <a:t>Text</a:t>
            </a:r>
            <a:r>
              <a:rPr lang="fi-FI" dirty="0"/>
              <a:t> = </a:t>
            </a:r>
            <a:r>
              <a:rPr lang="fi-FI" dirty="0" err="1"/>
              <a:t>text.Result</a:t>
            </a:r>
            <a:r>
              <a:rPr lang="fi-FI" dirty="0"/>
              <a:t>)</a:t>
            </a:r>
            <a:br>
              <a:rPr lang="fi-FI" dirty="0"/>
            </a:br>
            <a:r>
              <a:rPr lang="fi-FI" dirty="0"/>
              <a:t>jonokirjoittaja…..(</a:t>
            </a:r>
            <a:r>
              <a:rPr lang="fi-FI" dirty="0" err="1"/>
              <a:t>TekstilaatikkoRTB.Rtf</a:t>
            </a:r>
            <a:r>
              <a:rPr lang="fi-FI" dirty="0"/>
              <a:t>); (Oli: ….</a:t>
            </a:r>
            <a:r>
              <a:rPr lang="fi-FI" dirty="0" err="1"/>
              <a:t>RTB.Text</a:t>
            </a:r>
            <a:r>
              <a:rPr lang="fi-FI" dirty="0"/>
              <a:t>);</a:t>
            </a:r>
            <a:br>
              <a:rPr lang="fi-FI" dirty="0"/>
            </a:br>
            <a:r>
              <a:rPr lang="fi-FI" dirty="0"/>
              <a:t>jonokirjoittaja…..(</a:t>
            </a:r>
            <a:r>
              <a:rPr lang="fi-FI" dirty="0" err="1"/>
              <a:t>TekstilaatikkoRTB.Rtf</a:t>
            </a:r>
            <a:r>
              <a:rPr lang="fi-FI" dirty="0"/>
              <a:t>); (Oli: ….</a:t>
            </a:r>
            <a:r>
              <a:rPr lang="fi-FI" dirty="0" err="1"/>
              <a:t>RTB.Text</a:t>
            </a:r>
            <a:r>
              <a:rPr lang="fi-FI" dirty="0"/>
              <a:t>);</a:t>
            </a:r>
          </a:p>
          <a:p>
            <a:r>
              <a:rPr lang="fi-FI" dirty="0"/>
              <a:t>Eli tuo </a:t>
            </a:r>
            <a:r>
              <a:rPr lang="fi-FI" dirty="0" err="1"/>
              <a:t>Rtf</a:t>
            </a:r>
            <a:r>
              <a:rPr lang="fi-FI" dirty="0"/>
              <a:t> (</a:t>
            </a:r>
            <a:r>
              <a:rPr lang="fi-FI" dirty="0" err="1"/>
              <a:t>Rich</a:t>
            </a:r>
            <a:r>
              <a:rPr lang="fi-FI" dirty="0"/>
              <a:t> </a:t>
            </a:r>
            <a:r>
              <a:rPr lang="fi-FI" dirty="0" err="1"/>
              <a:t>Text</a:t>
            </a:r>
            <a:r>
              <a:rPr lang="fi-FI" dirty="0"/>
              <a:t> </a:t>
            </a:r>
            <a:r>
              <a:rPr lang="fi-FI" dirty="0" err="1"/>
              <a:t>Format</a:t>
            </a:r>
            <a:r>
              <a:rPr lang="fi-FI" dirty="0"/>
              <a:t>) kirjoittaa myös </a:t>
            </a:r>
            <a:r>
              <a:rPr lang="fi-FI"/>
              <a:t>muotoilut talteen</a:t>
            </a:r>
            <a:endParaRPr lang="fi-FI" dirty="0"/>
          </a:p>
          <a:p>
            <a:endParaRPr lang="fi-FI" dirty="0"/>
          </a:p>
          <a:p>
            <a:endParaRPr lang="fi-FI" dirty="0"/>
          </a:p>
        </p:txBody>
      </p:sp>
      <p:pic>
        <p:nvPicPr>
          <p:cNvPr id="3" name="Kuva 2">
            <a:extLst>
              <a:ext uri="{FF2B5EF4-FFF2-40B4-BE49-F238E27FC236}">
                <a16:creationId xmlns:a16="http://schemas.microsoft.com/office/drawing/2014/main" id="{8CA9F32E-11F1-8248-A20B-48F751B895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16702"/>
            <a:ext cx="9144000" cy="804409"/>
          </a:xfrm>
          <a:prstGeom prst="rect">
            <a:avLst/>
          </a:prstGeom>
        </p:spPr>
      </p:pic>
      <p:pic>
        <p:nvPicPr>
          <p:cNvPr id="6" name="Kuva 5">
            <a:extLst>
              <a:ext uri="{FF2B5EF4-FFF2-40B4-BE49-F238E27FC236}">
                <a16:creationId xmlns:a16="http://schemas.microsoft.com/office/drawing/2014/main" id="{BE949F3A-FB98-664D-9453-D694DC36A1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6700" y="3857096"/>
            <a:ext cx="5016500" cy="29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45929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740B53F3-22BD-A945-9015-2DA3A39C3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1918" y="0"/>
            <a:ext cx="5761282" cy="1063256"/>
          </a:xfrm>
        </p:spPr>
        <p:txBody>
          <a:bodyPr/>
          <a:lstStyle/>
          <a:p>
            <a:r>
              <a:rPr lang="fi-FI" dirty="0"/>
              <a:t>Koodaus – Muotoile valikko</a:t>
            </a:r>
          </a:p>
        </p:txBody>
      </p:sp>
      <p:sp>
        <p:nvSpPr>
          <p:cNvPr id="5" name="Sisällön paikkamerkki 2">
            <a:extLst>
              <a:ext uri="{FF2B5EF4-FFF2-40B4-BE49-F238E27FC236}">
                <a16:creationId xmlns:a16="http://schemas.microsoft.com/office/drawing/2014/main" id="{7EF972DF-8F52-AA42-B3E3-E5135AC88E40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791918" y="1440392"/>
            <a:ext cx="8352082" cy="5417608"/>
          </a:xfrm>
        </p:spPr>
        <p:txBody>
          <a:bodyPr>
            <a:normAutofit/>
          </a:bodyPr>
          <a:lstStyle/>
          <a:p>
            <a:r>
              <a:rPr lang="fi-FI" dirty="0"/>
              <a:t>Tekstin korostus kohtaan voit kirjoittaa:</a:t>
            </a:r>
          </a:p>
          <a:p>
            <a:endParaRPr lang="fi-FI" dirty="0"/>
          </a:p>
          <a:p>
            <a:r>
              <a:rPr lang="fi-FI" dirty="0"/>
              <a:t>Tietoa kohtaan teemme uuden ikkunan siten, että menemme Design ikkunaan, valitsemme oikealta ylhäältä projektimme nimen (Muistio) hiiren oikeanpuoleisella painikkeella, valitsemme </a:t>
            </a:r>
            <a:r>
              <a:rPr lang="fi-FI" dirty="0" err="1"/>
              <a:t>Add</a:t>
            </a:r>
            <a:r>
              <a:rPr lang="fi-FI" dirty="0"/>
              <a:t>.. </a:t>
            </a:r>
            <a:r>
              <a:rPr lang="fi-FI" dirty="0">
                <a:sym typeface="Wingdings" pitchFamily="2" charset="2"/>
              </a:rPr>
              <a:t> </a:t>
            </a:r>
            <a:r>
              <a:rPr lang="fi-FI" dirty="0" err="1">
                <a:sym typeface="Wingdings" pitchFamily="2" charset="2"/>
              </a:rPr>
              <a:t>Form</a:t>
            </a:r>
            <a:r>
              <a:rPr lang="fi-FI" dirty="0">
                <a:sym typeface="Wingdings" pitchFamily="2" charset="2"/>
              </a:rPr>
              <a:t>… ja annamme sille nimeksi tietoa</a:t>
            </a:r>
          </a:p>
          <a:p>
            <a:r>
              <a:rPr lang="fi-FI" dirty="0">
                <a:sym typeface="Wingdings" pitchFamily="2" charset="2"/>
              </a:rPr>
              <a:t>Lisää </a:t>
            </a:r>
            <a:r>
              <a:rPr lang="fi-FI" dirty="0" err="1">
                <a:sym typeface="Wingdings" pitchFamily="2" charset="2"/>
              </a:rPr>
              <a:t>Label</a:t>
            </a:r>
            <a:r>
              <a:rPr lang="fi-FI" dirty="0">
                <a:sym typeface="Wingdings" pitchFamily="2" charset="2"/>
              </a:rPr>
              <a:t> </a:t>
            </a:r>
            <a:r>
              <a:rPr lang="fi-FI" dirty="0" err="1">
                <a:sym typeface="Wingdings" pitchFamily="2" charset="2"/>
              </a:rPr>
              <a:t>formille</a:t>
            </a:r>
            <a:r>
              <a:rPr lang="fi-FI" dirty="0">
                <a:sym typeface="Wingdings" pitchFamily="2" charset="2"/>
              </a:rPr>
              <a:t>, muuta </a:t>
            </a:r>
            <a:r>
              <a:rPr lang="fi-FI" dirty="0" err="1">
                <a:sym typeface="Wingdings" pitchFamily="2" charset="2"/>
              </a:rPr>
              <a:t>labelin</a:t>
            </a:r>
            <a:r>
              <a:rPr lang="fi-FI" dirty="0">
                <a:sym typeface="Wingdings" pitchFamily="2" charset="2"/>
              </a:rPr>
              <a:t> fonttia ja fontin kokoa ja kirjoita oma nimesi:</a:t>
            </a:r>
          </a:p>
          <a:p>
            <a:endParaRPr lang="fi-FI" dirty="0">
              <a:sym typeface="Wingdings" pitchFamily="2" charset="2"/>
            </a:endParaRPr>
          </a:p>
          <a:p>
            <a:endParaRPr lang="fi-FI" dirty="0">
              <a:sym typeface="Wingdings" pitchFamily="2" charset="2"/>
            </a:endParaRPr>
          </a:p>
          <a:p>
            <a:endParaRPr lang="fi-FI" dirty="0">
              <a:sym typeface="Wingdings" pitchFamily="2" charset="2"/>
            </a:endParaRPr>
          </a:p>
          <a:p>
            <a:endParaRPr lang="fi-FI" dirty="0">
              <a:sym typeface="Wingdings" pitchFamily="2" charset="2"/>
            </a:endParaRPr>
          </a:p>
          <a:p>
            <a:r>
              <a:rPr lang="fi-FI" dirty="0">
                <a:sym typeface="Wingdings" pitchFamily="2" charset="2"/>
              </a:rPr>
              <a:t>Tietoa kohtaan kirjoita</a:t>
            </a:r>
            <a:br>
              <a:rPr lang="fi-FI" dirty="0"/>
            </a:br>
            <a:endParaRPr lang="fi-FI" dirty="0"/>
          </a:p>
          <a:p>
            <a:endParaRPr lang="fi-FI" dirty="0"/>
          </a:p>
        </p:txBody>
      </p:sp>
      <p:pic>
        <p:nvPicPr>
          <p:cNvPr id="4" name="Kuva 3">
            <a:extLst>
              <a:ext uri="{FF2B5EF4-FFF2-40B4-BE49-F238E27FC236}">
                <a16:creationId xmlns:a16="http://schemas.microsoft.com/office/drawing/2014/main" id="{1AE314CF-93B8-3148-AF9B-558638645C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1858" y="1713614"/>
            <a:ext cx="6019800" cy="304800"/>
          </a:xfrm>
          <a:prstGeom prst="rect">
            <a:avLst/>
          </a:prstGeom>
        </p:spPr>
      </p:pic>
      <p:pic>
        <p:nvPicPr>
          <p:cNvPr id="7" name="Kuva 6">
            <a:extLst>
              <a:ext uri="{FF2B5EF4-FFF2-40B4-BE49-F238E27FC236}">
                <a16:creationId xmlns:a16="http://schemas.microsoft.com/office/drawing/2014/main" id="{29B5A59E-5E26-BA44-AF09-7D9DF9A7EE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1858" y="3278962"/>
            <a:ext cx="4991100" cy="1320800"/>
          </a:xfrm>
          <a:prstGeom prst="rect">
            <a:avLst/>
          </a:prstGeom>
        </p:spPr>
      </p:pic>
      <p:pic>
        <p:nvPicPr>
          <p:cNvPr id="8" name="Kuva 7">
            <a:extLst>
              <a:ext uri="{FF2B5EF4-FFF2-40B4-BE49-F238E27FC236}">
                <a16:creationId xmlns:a16="http://schemas.microsoft.com/office/drawing/2014/main" id="{A1CD44ED-724A-6740-AC75-232CE9249C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7009" y="4976898"/>
            <a:ext cx="3543300" cy="596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4488573"/>
      </p:ext>
    </p:extLst>
  </p:cSld>
  <p:clrMapOvr>
    <a:masterClrMapping/>
  </p:clrMapOvr>
</p:sld>
</file>

<file path=ppt/theme/theme1.xml><?xml version="1.0" encoding="utf-8"?>
<a:theme xmlns:a="http://schemas.openxmlformats.org/drawingml/2006/main" name="Keuda">
  <a:themeElements>
    <a:clrScheme name="KEUDA">
      <a:dk1>
        <a:srgbClr val="000000"/>
      </a:dk1>
      <a:lt1>
        <a:sysClr val="window" lastClr="FFFFFF"/>
      </a:lt1>
      <a:dk2>
        <a:srgbClr val="000000"/>
      </a:dk2>
      <a:lt2>
        <a:srgbClr val="DAD9D4"/>
      </a:lt2>
      <a:accent1>
        <a:srgbClr val="3AAA35"/>
      </a:accent1>
      <a:accent2>
        <a:srgbClr val="BCCF00"/>
      </a:accent2>
      <a:accent3>
        <a:srgbClr val="C9338B"/>
      </a:accent3>
      <a:accent4>
        <a:srgbClr val="0074D8"/>
      </a:accent4>
      <a:accent5>
        <a:srgbClr val="623D91"/>
      </a:accent5>
      <a:accent6>
        <a:srgbClr val="000000"/>
      </a:accent6>
      <a:hlink>
        <a:srgbClr val="3AAA35"/>
      </a:hlink>
      <a:folHlink>
        <a:srgbClr val="BCCF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Keudapohja" id="{A054984A-8E48-3642-AE8C-EDA194885A68}" vid="{D6D0F34A-5152-A84B-95B2-81CF7E64AF3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d60cdafe-3c14-470c-9774-fed17032e9b6">
      <UserInfo>
        <DisplayName>Tiina Myrsky</DisplayName>
        <AccountId>395</AccountId>
        <AccountType/>
      </UserInfo>
      <UserInfo>
        <DisplayName>Sirpa Laiho</DisplayName>
        <AccountId>953</AccountId>
        <AccountType/>
      </UserInfo>
    </SharedWithUsers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Asiakirja" ma:contentTypeID="0x010100F531312B7327114EB8C6A781B61668F8" ma:contentTypeVersion="13" ma:contentTypeDescription="Luo uusi asiakirja." ma:contentTypeScope="" ma:versionID="160cf9f1a0764e32543ee535e7019f2e">
  <xsd:schema xmlns:xsd="http://www.w3.org/2001/XMLSchema" xmlns:xs="http://www.w3.org/2001/XMLSchema" xmlns:p="http://schemas.microsoft.com/office/2006/metadata/properties" xmlns:ns3="bef9a14e-6b3a-4af1-813a-eac9023b19ca" xmlns:ns4="d60cdafe-3c14-470c-9774-fed17032e9b6" targetNamespace="http://schemas.microsoft.com/office/2006/metadata/properties" ma:root="true" ma:fieldsID="93873177101ee229c29b07e8d73cfea5" ns3:_="" ns4:_="">
    <xsd:import namespace="bef9a14e-6b3a-4af1-813a-eac9023b19ca"/>
    <xsd:import namespace="d60cdafe-3c14-470c-9774-fed17032e9b6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DateTaken" minOccurs="0"/>
                <xsd:element ref="ns3:MediaServiceLocation" minOccurs="0"/>
                <xsd:element ref="ns3:MediaServiceAutoKeyPoints" minOccurs="0"/>
                <xsd:element ref="ns3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f9a14e-6b3a-4af1-813a-eac9023b19c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7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60cdafe-3c14-470c-9774-fed17032e9b6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Jaettu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Jakamisen tiedot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6" nillable="true" ma:displayName="Jakamisvihjeen hajautus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Sisältölaji"/>
        <xsd:element ref="dc:title" minOccurs="0" maxOccurs="1" ma:index="4" ma:displayName="Otsikk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F0D5726-3D6A-4EAD-9F28-E8ED54CD113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30FAD33-FC5D-40A5-A5BF-CED66488F50B}">
  <ds:schemaRefs>
    <ds:schemaRef ds:uri="http://purl.org/dc/dcmitype/"/>
    <ds:schemaRef ds:uri="http://schemas.microsoft.com/office/2006/documentManagement/types"/>
    <ds:schemaRef ds:uri="http://purl.org/dc/terms/"/>
    <ds:schemaRef ds:uri="http://www.w3.org/XML/1998/namespace"/>
    <ds:schemaRef ds:uri="bef9a14e-6b3a-4af1-813a-eac9023b19ca"/>
    <ds:schemaRef ds:uri="http://schemas.microsoft.com/office/infopath/2007/PartnerControls"/>
    <ds:schemaRef ds:uri="d60cdafe-3c14-470c-9774-fed17032e9b6"/>
    <ds:schemaRef ds:uri="http://schemas.microsoft.com/office/2006/metadata/properties"/>
    <ds:schemaRef ds:uri="http://schemas.openxmlformats.org/package/2006/metadata/core-properties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20EF9867-FB68-4B42-81D4-E5B6D5D4E4A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ef9a14e-6b3a-4af1-813a-eac9023b19ca"/>
    <ds:schemaRef ds:uri="d60cdafe-3c14-470c-9774-fed17032e9b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Keuda</Template>
  <TotalTime>34121</TotalTime>
  <Words>1026</Words>
  <Application>Microsoft Office PowerPoint</Application>
  <PresentationFormat>Näytössä katseltava diaesitys (4:3)</PresentationFormat>
  <Paragraphs>131</Paragraphs>
  <Slides>17</Slides>
  <Notes>0</Notes>
  <HiddenSlides>0</HiddenSlides>
  <MMClips>0</MMClips>
  <ScaleCrop>false</ScaleCrop>
  <HeadingPairs>
    <vt:vector size="6" baseType="variant">
      <vt:variant>
        <vt:lpstr>Käytetyt fontit</vt:lpstr>
      </vt:variant>
      <vt:variant>
        <vt:i4>3</vt:i4>
      </vt:variant>
      <vt:variant>
        <vt:lpstr>Teema</vt:lpstr>
      </vt:variant>
      <vt:variant>
        <vt:i4>1</vt:i4>
      </vt:variant>
      <vt:variant>
        <vt:lpstr>Dian otsikot</vt:lpstr>
      </vt:variant>
      <vt:variant>
        <vt:i4>17</vt:i4>
      </vt:variant>
    </vt:vector>
  </HeadingPairs>
  <TitlesOfParts>
    <vt:vector size="21" baseType="lpstr">
      <vt:lpstr>Arial</vt:lpstr>
      <vt:lpstr>Calibri</vt:lpstr>
      <vt:lpstr>TitilliumText22L Light</vt:lpstr>
      <vt:lpstr>Keuda</vt:lpstr>
      <vt:lpstr>T1-tason ohjelmointi C#-kielellä</vt:lpstr>
      <vt:lpstr>17. Tehtävä - Muistio</vt:lpstr>
      <vt:lpstr>Layout</vt:lpstr>
      <vt:lpstr>Layout - jatkuu</vt:lpstr>
      <vt:lpstr>Koodaus</vt:lpstr>
      <vt:lpstr>Koodaus</vt:lpstr>
      <vt:lpstr>Koodaus</vt:lpstr>
      <vt:lpstr>Koodaus - Tallenna</vt:lpstr>
      <vt:lpstr>Koodaus – Tallenna nimellä</vt:lpstr>
      <vt:lpstr>Koodaus - Tallenna</vt:lpstr>
      <vt:lpstr>Koodaus - Tulosta</vt:lpstr>
      <vt:lpstr>Koodaus - Tulosta</vt:lpstr>
      <vt:lpstr>Koodaus – Muokkaa valikko</vt:lpstr>
      <vt:lpstr>Koodaus – Muokkaa valikko</vt:lpstr>
      <vt:lpstr>Koodaus – Muotoile valikko</vt:lpstr>
      <vt:lpstr>Koodaus – Muotoile valikko</vt:lpstr>
      <vt:lpstr>Koodaus – Muotoile valikko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T1-tason ohjelmointi C#-kielellä</dc:title>
  <dc:creator>Jyri Lindroos</dc:creator>
  <cp:lastModifiedBy>Jyri Lindroos</cp:lastModifiedBy>
  <cp:revision>70</cp:revision>
  <dcterms:created xsi:type="dcterms:W3CDTF">2021-08-06T08:12:12Z</dcterms:created>
  <dcterms:modified xsi:type="dcterms:W3CDTF">2023-02-15T11:18:46Z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0x010100F531312B7327114EB8C6A781B61668F8</vt:lpwstr>
  </property>
  <property fmtid="{D5CDD505-2E9C-101B-9397-08002B2CF9AE}" pid="3" name="Keuda Avainsana">
    <vt:lpwstr>22;#viestintä|b7bd8df1-11a9-47b9-81d4-8f39aa216b53</vt:lpwstr>
  </property>
  <property fmtid="{D5CDD505-2E9C-101B-9397-08002B2CF9AE}" pid="4" name="Keuda Ala">
    <vt:lpwstr>17;#Yhteiset palvelut|dd5a481c-96b8-4355-a3f4-1b3fa68beb25</vt:lpwstr>
  </property>
  <property fmtid="{D5CDD505-2E9C-101B-9397-08002B2CF9AE}" pid="5" name="Keuda Dokumenttityyppi">
    <vt:lpwstr>10;#Esitysmateriaali|ed134d34-a4c9-4be4-9a74-125bd0dfe4d4</vt:lpwstr>
  </property>
  <property fmtid="{D5CDD505-2E9C-101B-9397-08002B2CF9AE}" pid="6" name="AuthorIds_UIVersion_2560">
    <vt:lpwstr>30</vt:lpwstr>
  </property>
  <property fmtid="{D5CDD505-2E9C-101B-9397-08002B2CF9AE}" pid="7" name="AuthorIds_UIVersion_3072">
    <vt:lpwstr>30</vt:lpwstr>
  </property>
</Properties>
</file>